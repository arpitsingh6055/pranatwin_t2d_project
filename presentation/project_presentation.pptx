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18d53de1374cb9" /><Relationship Type="http://schemas.openxmlformats.org/officeDocument/2006/relationships/extended-properties" Target="/docProps/app.xml" Id="Rb487b90a82a0476b" /><Relationship Type="http://schemas.openxmlformats.org/officeDocument/2006/relationships/officeDocument" Target="/ppt/presentation.xml" Id="Rd711c03e04e948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8e494b0fcd417a"/>
  </p:sldMasterIdLst>
  <p:notesMasterIdLst>
    <p:notesMasterId xmlns:r="http://schemas.openxmlformats.org/officeDocument/2006/relationships" r:id="R4efc441101dc4100"/>
  </p:notesMasterIdLst>
  <p:sldIdLst>
    <p:sldId xmlns:r="http://schemas.openxmlformats.org/officeDocument/2006/relationships" id="256" r:id="R74867a03b1f047ab"/>
    <p:sldId xmlns:r="http://schemas.openxmlformats.org/officeDocument/2006/relationships" id="257" r:id="R10e364bc65484cd4"/>
    <p:sldId xmlns:r="http://schemas.openxmlformats.org/officeDocument/2006/relationships" id="258" r:id="R402cab52cb3c4aec"/>
    <p:sldId xmlns:r="http://schemas.openxmlformats.org/officeDocument/2006/relationships" id="259" r:id="R3a0ac6197aff47da"/>
    <p:sldId xmlns:r="http://schemas.openxmlformats.org/officeDocument/2006/relationships" id="260" r:id="Rc686033b15e84dec"/>
    <p:sldId xmlns:r="http://schemas.openxmlformats.org/officeDocument/2006/relationships" id="261" r:id="Rebc237d34dd04a12"/>
    <p:sldId xmlns:r="http://schemas.openxmlformats.org/officeDocument/2006/relationships" id="262" r:id="R7e06a16809de49a1"/>
    <p:sldId xmlns:r="http://schemas.openxmlformats.org/officeDocument/2006/relationships" id="263" r:id="R721752d158784f36"/>
    <p:sldId xmlns:r="http://schemas.openxmlformats.org/officeDocument/2006/relationships" id="264" r:id="R5986be44ade44f06"/>
    <p:sldId xmlns:r="http://schemas.openxmlformats.org/officeDocument/2006/relationships" id="265" r:id="Rcfd69a0e0b8646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21938ccdbb4b8e" /><Relationship Type="http://schemas.openxmlformats.org/officeDocument/2006/relationships/slideMaster" Target="/ppt/slideMasters/slideMaster1.xml" Id="Re38e494b0fcd417a" /><Relationship Type="http://schemas.openxmlformats.org/officeDocument/2006/relationships/notesMaster" Target="/ppt/notesMasters/notesMaster1.xml" Id="R4efc441101dc4100" /><Relationship Type="http://schemas.openxmlformats.org/officeDocument/2006/relationships/presProps" Target="/ppt/presProps.xml" Id="R94d4b992682f4941" /><Relationship Type="http://schemas.openxmlformats.org/officeDocument/2006/relationships/tableStyles" Target="/ppt/tableStyles.xml" Id="R77ab10cbb5154953" /><Relationship Type="http://schemas.openxmlformats.org/officeDocument/2006/relationships/slide" Target="/ppt/slides/slide1.xml" Id="R74867a03b1f047ab" /><Relationship Type="http://schemas.openxmlformats.org/officeDocument/2006/relationships/slide" Target="/ppt/slides/slide2.xml" Id="R10e364bc65484cd4" /><Relationship Type="http://schemas.openxmlformats.org/officeDocument/2006/relationships/slide" Target="/ppt/slides/slide3.xml" Id="R402cab52cb3c4aec" /><Relationship Type="http://schemas.openxmlformats.org/officeDocument/2006/relationships/slide" Target="/ppt/slides/slide4.xml" Id="R3a0ac6197aff47da" /><Relationship Type="http://schemas.openxmlformats.org/officeDocument/2006/relationships/slide" Target="/ppt/slides/slide5.xml" Id="Rc686033b15e84dec" /><Relationship Type="http://schemas.openxmlformats.org/officeDocument/2006/relationships/slide" Target="/ppt/slides/slide6.xml" Id="Rebc237d34dd04a12" /><Relationship Type="http://schemas.openxmlformats.org/officeDocument/2006/relationships/slide" Target="/ppt/slides/slide7.xml" Id="R7e06a16809de49a1" /><Relationship Type="http://schemas.openxmlformats.org/officeDocument/2006/relationships/slide" Target="/ppt/slides/slide8.xml" Id="R721752d158784f36" /><Relationship Type="http://schemas.openxmlformats.org/officeDocument/2006/relationships/slide" Target="/ppt/slides/slide9.xml" Id="R5986be44ade44f06" /><Relationship Type="http://schemas.openxmlformats.org/officeDocument/2006/relationships/slide" Target="/ppt/slides/slide10.xml" Id="Rcfd69a0e0b8646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8f75c3348748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3d934a1ed0435c" /><Relationship Type="http://schemas.openxmlformats.org/officeDocument/2006/relationships/notesMaster" Target="/ppt/notesMasters/notesMaster1.xml" Id="R9c18f7f96e0847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17c06d1be04f14" /><Relationship Type="http://schemas.openxmlformats.org/officeDocument/2006/relationships/notesMaster" Target="/ppt/notesMasters/notesMaster1.xml" Id="Rd65ec3deaf2c4d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ac3314b1ea4a35" /><Relationship Type="http://schemas.openxmlformats.org/officeDocument/2006/relationships/notesMaster" Target="/ppt/notesMasters/notesMaster1.xml" Id="Reb750dc678684b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39e9c0c9164be9" /><Relationship Type="http://schemas.openxmlformats.org/officeDocument/2006/relationships/notesMaster" Target="/ppt/notesMasters/notesMaster1.xml" Id="R1823b5fc63b94f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464a53555c4f06" /><Relationship Type="http://schemas.openxmlformats.org/officeDocument/2006/relationships/notesMaster" Target="/ppt/notesMasters/notesMaster1.xml" Id="R36338231e8bf4b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2dd46313ce432e" /><Relationship Type="http://schemas.openxmlformats.org/officeDocument/2006/relationships/notesMaster" Target="/ppt/notesMasters/notesMaster1.xml" Id="Rc165c0b94c4941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1d17eae7c64a2c" /><Relationship Type="http://schemas.openxmlformats.org/officeDocument/2006/relationships/notesMaster" Target="/ppt/notesMasters/notesMaster1.xml" Id="R65de4be00f7542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d7302a029d47b7" /><Relationship Type="http://schemas.openxmlformats.org/officeDocument/2006/relationships/notesMaster" Target="/ppt/notesMasters/notesMaster1.xml" Id="R8a0c8f32ce7448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3a148eb2604406" /><Relationship Type="http://schemas.openxmlformats.org/officeDocument/2006/relationships/notesMaster" Target="/ppt/notesMasters/notesMaster1.xml" Id="R2fd78bb20a904e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4c5446d758443c" /><Relationship Type="http://schemas.openxmlformats.org/officeDocument/2006/relationships/notesMaster" Target="/ppt/notesMasters/notesMaster1.xml" Id="R8fc5f03a020049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identity is intentionally pending. Not for patient care, diagnosis, emergency use or medication decisions.</a:t>
            </a:r>
          </a:p>
          <a:p xmlns:a="http://schemas.openxmlformats.org/drawingml/2006/main">
            <a:r>
              <a:t>All default data and evaluation are synthetic. Source register: docs/sources.md. Generated from actual repository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Threshold source: Battelino et al., Diabetes Care 2019, DOI 10.2337/dci19-0028. Profiles are project-authored examples, not prevalence estimates.</a:t>
            </a:r>
          </a:p>
          <a:p xmlns:a="http://schemas.openxmlformats.org/drawingml/2006/main">
            <a:r>
              <a:t>All default data and evaluation are synthetic. Source register: docs/sources.md. Generated from actual repository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flow: engine/data.py, model.py and api.py. Architecture editable source: docs/architecture.mmd and scripts/build_figures.py.</a:t>
            </a:r>
          </a:p>
          <a:p xmlns:a="http://schemas.openxmlformats.org/drawingml/2006/main">
            <a:r>
              <a:t>All default data and evaluation are synthetic. Source register: docs/sources.md. Generated from actual repository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Equations and units: docs/model_methodology.md; coefficients: config/model.json. Gains are unvalidated illustrative assumptions. No Bergman/Hovorka claim.</a:t>
            </a:r>
          </a:p>
          <a:p xmlns:a="http://schemas.openxmlformats.org/drawingml/2006/main">
            <a:r>
              <a:t>All default data and evaluation are synthetic. Source register: docs/sources.md. Generated from actual repository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by Playwright from the running app, reports/dashboard-desktop.png. Demo actions are implemented in frontend/src/App.tsx.</a:t>
            </a:r>
          </a:p>
          <a:p xmlns:a="http://schemas.openxmlformats.org/drawingml/2006/main">
            <a:r>
              <a:t>All default data and evaluation are synthetic. Source register: docs/sources.md. Generated from actual repository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indices and timestamps: reports/metrics.json manifest. Test origins every 30 minutes. Overlapping test windows remain correlated. No new-patient generalization claim.</a:t>
            </a:r>
          </a:p>
          <a:p xmlns:a="http://schemas.openxmlformats.org/drawingml/2006/main">
            <a:r>
              <a:t>All default data and evaluation are synthetic. Source register: docs/sources.md. Generated from actual repository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source: reports/metrics.json; pair-level evidence: reports/predictions.csv. Dataset SHA256 7d8e375c62e3bb79118ac8ebdccb111ac950d00a972afa4d1843ca89c348d447</a:t>
            </a:r>
          </a:p>
          <a:p xmlns:a="http://schemas.openxmlformats.org/drawingml/2006/main">
            <a:r>
              <a:t>All default data and evaluation are synthetic. Source register: docs/sources.md. Generated from actual repository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 docs/model_card.md. Deterministic any-crossing UI flags differ from endpoint labels used for evaluation metrics.</a:t>
            </a:r>
          </a:p>
          <a:p xmlns:a="http://schemas.openxmlformats.org/drawingml/2006/main">
            <a:r>
              <a:t>All default data and evaluation are synthetic. Source register: docs/sources.md. Generated from actual repository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FHIR sources: https://hl7.org/fhir/R4/documents.html and https://nrces.in/ndhm/fhir/r4/StructureDefinition-DocumentBundle.html. Security boundary: docs/security_privacy.md.</a:t>
            </a:r>
          </a:p>
          <a:p xmlns:a="http://schemas.openxmlformats.org/drawingml/2006/main">
            <a:r>
              <a:t>All default data and evaluation are synthetic. Source register: docs/sources.md. Generated from actual repository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Video status: PENDING. docs/audit.md records executed checks and external blockers. No clinical deployment claim.</a:t>
            </a:r>
          </a:p>
          <a:p xmlns:a="http://schemas.openxmlformats.org/drawingml/2006/main">
            <a:r>
              <a:t>All default data and evaluation are synthetic. Source register: docs/sources.md. Generated from actual repository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bea446774e4f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b7ab9be8014b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3813d1d714e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29773441a46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a044b6d9b4c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cea2d7b3c140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2000EB-9C6C-4418-8750-E6333AC87E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6BDEF2A-698E-486F-8535-F1135953CE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21839FB-1D69-446A-9786-0619E3D516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72BEE8-A924-49C3-8E0D-74BE6EF7AF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1C5A7EE-590E-49C0-9357-D6BF2F01D4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AD2167-547D-4838-88A6-AFD76674B9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D31EA1-7F3E-4DCB-AC8F-60EC3E0337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3F6BB2C-302E-4391-8A0C-9590BC050F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FC38EF-554F-4009-A0F8-656895A1A9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8BBF97-E436-41B9-A089-787A917B1B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de84d576d34f18" /><Relationship Type="http://schemas.openxmlformats.org/officeDocument/2006/relationships/slideLayout" Target="/ppt/slideLayouts/slideLayout1.xml" Id="Rad72ee9e797248aa" /><Relationship Type="http://schemas.openxmlformats.org/officeDocument/2006/relationships/slideLayout" Target="/ppt/slideLayouts/slideLayout2.xml" Id="R86920437b4c949be" /><Relationship Type="http://schemas.openxmlformats.org/officeDocument/2006/relationships/slideLayout" Target="/ppt/slideLayouts/slideLayout3.xml" Id="Ra19f37ef7a7249e0" /><Relationship Type="http://schemas.openxmlformats.org/officeDocument/2006/relationships/slideLayout" Target="/ppt/slideLayouts/slideLayout4.xml" Id="R9120a198ab5e46af" /><Relationship Type="http://schemas.openxmlformats.org/officeDocument/2006/relationships/slideLayout" Target="/ppt/slideLayouts/slideLayout5.xml" Id="Ra163ba9bd05543cd" /><Relationship Type="http://schemas.openxmlformats.org/officeDocument/2006/relationships/slideLayout" Target="/ppt/slideLayouts/slideLayout6.xml" Id="R5e7dd93890274b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72ee9e797248aa"/>
    <p:sldLayoutId xmlns:r="http://schemas.openxmlformats.org/officeDocument/2006/relationships" id="2147483650" r:id="R86920437b4c949be"/>
    <p:sldLayoutId xmlns:r="http://schemas.openxmlformats.org/officeDocument/2006/relationships" id="2147483651" r:id="Ra19f37ef7a7249e0"/>
    <p:sldLayoutId xmlns:r="http://schemas.openxmlformats.org/officeDocument/2006/relationships" id="2147483652" r:id="R9120a198ab5e46af"/>
    <p:sldLayoutId xmlns:r="http://schemas.openxmlformats.org/officeDocument/2006/relationships" id="2147483653" r:id="Ra163ba9bd05543cd"/>
    <p:sldLayoutId xmlns:r="http://schemas.openxmlformats.org/officeDocument/2006/relationships" id="2147483654" r:id="R5e7dd93890274b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2cfcd92cf94311" /><Relationship Type="http://schemas.openxmlformats.org/officeDocument/2006/relationships/notesSlide" Target="/ppt/notesSlides/notesSlide1.xml" Id="R0961930a653842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384f1fcdf146a7" /><Relationship Type="http://schemas.openxmlformats.org/officeDocument/2006/relationships/notesSlide" Target="/ppt/notesSlides/notesSlide2.xml" Id="R2659329d9c7f43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c6ccb2bdb743d6" /><Relationship Type="http://schemas.openxmlformats.org/officeDocument/2006/relationships/notesSlide" Target="/ppt/notesSlides/notesSlide3.xml" Id="R1870286fb8524e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05fc08d980402a" /><Relationship Type="http://schemas.openxmlformats.org/officeDocument/2006/relationships/notesSlide" Target="/ppt/notesSlides/notesSlide4.xml" Id="R7f59a9e800ef49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35434b5a0b4aed" /><Relationship Type="http://schemas.openxmlformats.org/officeDocument/2006/relationships/image" Target="/ppt/media/image.png" Id="R9123847966ad43be" /><Relationship Type="http://schemas.openxmlformats.org/officeDocument/2006/relationships/notesSlide" Target="/ppt/notesSlides/notesSlide5.xml" Id="Rc8567b79193c4d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9baa0860c4419d" /><Relationship Type="http://schemas.openxmlformats.org/officeDocument/2006/relationships/notesSlide" Target="/ppt/notesSlides/notesSlide6.xml" Id="R2d4d078c69714f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ef67edd5d94dbe" /><Relationship Type="http://schemas.openxmlformats.org/officeDocument/2006/relationships/chart" Target="/ppt/slides/charts/chart1.xml" Id="Rcf1334fdf0e946c2" /><Relationship Type="http://schemas.openxmlformats.org/officeDocument/2006/relationships/notesSlide" Target="/ppt/notesSlides/notesSlide7.xml" Id="R08a412db913745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66e7c1d3294241" /><Relationship Type="http://schemas.openxmlformats.org/officeDocument/2006/relationships/notesSlide" Target="/ppt/notesSlides/notesSlide8.xml" Id="R8f3368ec1adf43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1b0df25d034443" /><Relationship Type="http://schemas.openxmlformats.org/officeDocument/2006/relationships/notesSlide" Target="/ppt/notesSlides/notesSlide9.xml" Id="R930c7cb765fa46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d3b773441a4d62" /><Relationship Type="http://schemas.openxmlformats.org/officeDocument/2006/relationships/notesSlide" Target="/ppt/notesSlides/notesSlide10.xml" Id="R3f372679f7da49e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persistence</c:v>
          </c:tx>
          <c:spPr>
            <a:solidFill xmlns:a="http://schemas.openxmlformats.org/drawingml/2006/main">
              <a:srgbClr val="72878C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15 min</c:v>
                </c:pt>
                <c:pt idx="1">
                  <c:v>30 min</c:v>
                </c:pt>
                <c:pt idx="2">
                  <c:v>60 min</c:v>
                </c:pt>
                <c:pt idx="3">
                  <c:v>90 min</c:v>
                </c:pt>
                <c:pt idx="4">
                  <c:v>120 min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9.05</c:v>
                </c:pt>
                <c:pt idx="1">
                  <c:v>16.89</c:v>
                </c:pt>
                <c:pt idx="2">
                  <c:v>29.66</c:v>
                </c:pt>
                <c:pt idx="3">
                  <c:v>38.43</c:v>
                </c:pt>
                <c:pt idx="4">
                  <c:v>43.83</c:v>
                </c:pt>
              </c:numCache>
            </c:numRef>
          </c:val>
        </c:ser>
        <c:ser>
          <c:idx val="1"/>
          <c:order val="1"/>
          <c:tx>
            <c:v>ridge</c:v>
          </c:tx>
          <c:spPr>
            <a:solidFill xmlns:a="http://schemas.openxmlformats.org/drawingml/2006/main">
              <a:srgbClr val="13796C"/>
            </a:solidFill>
          </c:spPr>
          <c:invertIfNegative val="0"/>
          <c:cat>
            <c:strRef>
              <c:f>'Chart Data'!$C$2:$C$6</c:f>
              <c:strCache>
                <c:ptCount val="5"/>
                <c:pt idx="0">
                  <c:v>15 min</c:v>
                </c:pt>
                <c:pt idx="1">
                  <c:v>30 min</c:v>
                </c:pt>
                <c:pt idx="2">
                  <c:v>60 min</c:v>
                </c:pt>
                <c:pt idx="3">
                  <c:v>90 min</c:v>
                </c:pt>
                <c:pt idx="4">
                  <c:v>120 min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6.79</c:v>
                </c:pt>
                <c:pt idx="1">
                  <c:v>11.12</c:v>
                </c:pt>
                <c:pt idx="2">
                  <c:v>18.83</c:v>
                </c:pt>
                <c:pt idx="3">
                  <c:v>23.01</c:v>
                </c:pt>
                <c:pt idx="4">
                  <c:v>22.91</c:v>
                </c:pt>
              </c:numCache>
            </c:numRef>
          </c:val>
        </c:ser>
        <c:ser>
          <c:idx val="2"/>
          <c:order val="2"/>
          <c:tx>
            <c:v>reduced_order</c:v>
          </c:tx>
          <c:spPr>
            <a:solidFill xmlns:a="http://schemas.openxmlformats.org/drawingml/2006/main">
              <a:srgbClr val="505FC4"/>
            </a:solidFill>
          </c:spPr>
          <c:invertIfNegative val="0"/>
          <c:cat>
            <c:strRef>
              <c:f>'Chart Data'!$E$2:$E$6</c:f>
              <c:strCache>
                <c:ptCount val="5"/>
                <c:pt idx="0">
                  <c:v>15 min</c:v>
                </c:pt>
                <c:pt idx="1">
                  <c:v>30 min</c:v>
                </c:pt>
                <c:pt idx="2">
                  <c:v>60 min</c:v>
                </c:pt>
                <c:pt idx="3">
                  <c:v>90 min</c:v>
                </c:pt>
                <c:pt idx="4">
                  <c:v>120 min</c:v>
                </c:pt>
              </c:strCache>
            </c:strRef>
          </c:cat>
          <c:val>
            <c:numRef>
              <c:f>'Chart Data'!$F$2:$F$6</c:f>
              <c:numCache>
                <c:formatCode>General</c:formatCode>
                <c:ptCount val="5"/>
                <c:pt idx="0">
                  <c:v>9.54</c:v>
                </c:pt>
                <c:pt idx="1">
                  <c:v>15.77</c:v>
                </c:pt>
                <c:pt idx="2">
                  <c:v>26.5</c:v>
                </c:pt>
                <c:pt idx="3">
                  <c:v>33.74</c:v>
                </c:pt>
                <c:pt idx="4">
                  <c:v>36.27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Forecast horizon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RMSE (mg/dL)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ABE28-65A7-4838-8097-457C2CCA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B3C"/>
                </a:solidFill>
              </a:defRPr>
            </a:defPPr>
            <a:lvl1pPr>
              <a:defRPr sz="3300" b="1">
                <a:solidFill>
                  <a:srgbClr val="123B3C"/>
                </a:solidFill>
              </a:defRPr>
            </a:lvl1pPr>
            <a:lvl2pPr>
              <a:defRPr sz="3300" b="1">
                <a:solidFill>
                  <a:srgbClr val="123B3C"/>
                </a:solidFill>
              </a:defRPr>
            </a:lvl2pPr>
            <a:lvl3pPr>
              <a:defRPr sz="3300" b="1">
                <a:solidFill>
                  <a:srgbClr val="123B3C"/>
                </a:solidFill>
              </a:defRPr>
            </a:lvl3pPr>
            <a:lvl4pPr>
              <a:defRPr sz="3300" b="1">
                <a:solidFill>
                  <a:srgbClr val="123B3C"/>
                </a:solidFill>
              </a:defRPr>
            </a:lvl4pPr>
            <a:lvl5pPr>
              <a:defRPr sz="3300" b="1">
                <a:solidFill>
                  <a:srgbClr val="123B3C"/>
                </a:solidFill>
              </a:defRPr>
            </a:lvl5pPr>
            <a:lvl6pPr>
              <a:defRPr sz="3300" b="1">
                <a:solidFill>
                  <a:srgbClr val="123B3C"/>
                </a:solidFill>
              </a:defRPr>
            </a:lvl6pPr>
            <a:lvl7pPr>
              <a:defRPr sz="3300" b="1">
                <a:solidFill>
                  <a:srgbClr val="123B3C"/>
                </a:solidFill>
              </a:defRPr>
            </a:lvl7pPr>
            <a:lvl8pPr>
              <a:defRPr sz="3300" b="1">
                <a:solidFill>
                  <a:srgbClr val="123B3C"/>
                </a:solidFill>
              </a:defRPr>
            </a:lvl8pPr>
            <a:lvl9pPr>
              <a:defRPr sz="3300" b="1">
                <a:solidFill>
                  <a:srgbClr val="123B3C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B3C"/>
                </a:solidFill>
              </a:defRPr>
            </a:pPr>
            <a:r>
              <a:rPr sz="3300" b="1">
                <a:solidFill>
                  <a:srgbClr val="123B3C"/>
                </a:solidFill>
              </a:rPr>
              <a:t>PranaTwin-T2D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D3988-3130-4053-A97A-6787C0D2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B71"/>
                </a:solidFill>
              </a:defRPr>
            </a:defPPr>
            <a:lvl1pPr>
              <a:defRPr sz="1800" b="0">
                <a:solidFill>
                  <a:srgbClr val="526B71"/>
                </a:solidFill>
              </a:defRPr>
            </a:lvl1pPr>
            <a:lvl2pPr>
              <a:defRPr sz="1800" b="0">
                <a:solidFill>
                  <a:srgbClr val="526B71"/>
                </a:solidFill>
              </a:defRPr>
            </a:lvl2pPr>
            <a:lvl3pPr>
              <a:defRPr sz="1800" b="0">
                <a:solidFill>
                  <a:srgbClr val="526B71"/>
                </a:solidFill>
              </a:defRPr>
            </a:lvl3pPr>
            <a:lvl4pPr>
              <a:defRPr sz="1800" b="0">
                <a:solidFill>
                  <a:srgbClr val="526B71"/>
                </a:solidFill>
              </a:defRPr>
            </a:lvl4pPr>
            <a:lvl5pPr>
              <a:defRPr sz="1800" b="0">
                <a:solidFill>
                  <a:srgbClr val="526B71"/>
                </a:solidFill>
              </a:defRPr>
            </a:lvl5pPr>
            <a:lvl6pPr>
              <a:defRPr sz="1800" b="0">
                <a:solidFill>
                  <a:srgbClr val="526B71"/>
                </a:solidFill>
              </a:defRPr>
            </a:lvl6pPr>
            <a:lvl7pPr>
              <a:defRPr sz="1800" b="0">
                <a:solidFill>
                  <a:srgbClr val="526B71"/>
                </a:solidFill>
              </a:defRPr>
            </a:lvl7pPr>
            <a:lvl8pPr>
              <a:defRPr sz="1800" b="0">
                <a:solidFill>
                  <a:srgbClr val="526B71"/>
                </a:solidFill>
              </a:defRPr>
            </a:lvl8pPr>
            <a:lvl9pPr>
              <a:defRPr sz="1800" b="0">
                <a:solidFill>
                  <a:srgbClr val="526B7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B71"/>
                </a:solidFill>
              </a:defRPr>
            </a:pPr>
            <a:r>
              <a:rPr sz="1800" b="0">
                <a:solidFill>
                  <a:srgbClr val="526B71"/>
                </a:solidFill>
              </a:rPr>
              <a:t>A clinician-facing research sandbox for short-horizon glycemic forecasts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4C317-0C44-49F9-84E2-E83DA397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47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23B3C"/>
                </a:solidFill>
              </a:defRPr>
            </a:defPPr>
            <a:lvl1pPr>
              <a:defRPr sz="3450" b="1">
                <a:solidFill>
                  <a:srgbClr val="123B3C"/>
                </a:solidFill>
              </a:defRPr>
            </a:lvl1pPr>
            <a:lvl2pPr>
              <a:defRPr sz="3450" b="1">
                <a:solidFill>
                  <a:srgbClr val="123B3C"/>
                </a:solidFill>
              </a:defRPr>
            </a:lvl2pPr>
            <a:lvl3pPr>
              <a:defRPr sz="3450" b="1">
                <a:solidFill>
                  <a:srgbClr val="123B3C"/>
                </a:solidFill>
              </a:defRPr>
            </a:lvl3pPr>
            <a:lvl4pPr>
              <a:defRPr sz="3450" b="1">
                <a:solidFill>
                  <a:srgbClr val="123B3C"/>
                </a:solidFill>
              </a:defRPr>
            </a:lvl4pPr>
            <a:lvl5pPr>
              <a:defRPr sz="3450" b="1">
                <a:solidFill>
                  <a:srgbClr val="123B3C"/>
                </a:solidFill>
              </a:defRPr>
            </a:lvl5pPr>
            <a:lvl6pPr>
              <a:defRPr sz="3450" b="1">
                <a:solidFill>
                  <a:srgbClr val="123B3C"/>
                </a:solidFill>
              </a:defRPr>
            </a:lvl6pPr>
            <a:lvl7pPr>
              <a:defRPr sz="3450" b="1">
                <a:solidFill>
                  <a:srgbClr val="123B3C"/>
                </a:solidFill>
              </a:defRPr>
            </a:lvl7pPr>
            <a:lvl8pPr>
              <a:defRPr sz="3450" b="1">
                <a:solidFill>
                  <a:srgbClr val="123B3C"/>
                </a:solidFill>
              </a:defRPr>
            </a:lvl8pPr>
            <a:lvl9pPr>
              <a:defRPr sz="3450" b="1">
                <a:solidFill>
                  <a:srgbClr val="123B3C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23B3C"/>
                </a:solidFill>
              </a:defRPr>
            </a:pPr>
            <a:r>
              <a:rPr sz="3450" b="1">
                <a:solidFill>
                  <a:srgbClr val="123B3C"/>
                </a:solidFill>
              </a:rPr>
              <a:t>Historical context.</a:t>
            </a:r>
          </a:p>
          <a:p xmlns:a="http://schemas.openxmlformats.org/drawingml/2006/main">
            <a:pPr>
              <a:defRPr sz="3450" b="1">
                <a:solidFill>
                  <a:srgbClr val="123B3C"/>
                </a:solidFill>
              </a:defRPr>
            </a:pPr>
            <a:r>
              <a:rPr sz="3450" b="1">
                <a:solidFill>
                  <a:srgbClr val="123B3C"/>
                </a:solidFill>
              </a:rPr>
              <a:t>An evolving virtual state.</a:t>
            </a:r>
          </a:p>
          <a:p xmlns:a="http://schemas.openxmlformats.org/drawingml/2006/main">
            <a:pPr>
              <a:defRPr sz="3450" b="1">
                <a:solidFill>
                  <a:srgbClr val="123B3C"/>
                </a:solidFill>
              </a:defRPr>
            </a:pPr>
            <a:r>
              <a:rPr sz="3450" b="1">
                <a:solidFill>
                  <a:srgbClr val="123B3C"/>
                </a:solidFill>
              </a:rPr>
              <a:t>A forecast that can be audited.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4CFAE-F58E-4859-A2DE-95884F2D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71"/>
                </a:solidFill>
              </a:defRPr>
            </a:defPPr>
            <a:lvl1pPr>
              <a:defRPr sz="1650" b="0">
                <a:solidFill>
                  <a:srgbClr val="526B71"/>
                </a:solidFill>
              </a:defRPr>
            </a:lvl1pPr>
            <a:lvl2pPr>
              <a:defRPr sz="1650" b="0">
                <a:solidFill>
                  <a:srgbClr val="526B71"/>
                </a:solidFill>
              </a:defRPr>
            </a:lvl2pPr>
            <a:lvl3pPr>
              <a:defRPr sz="1650" b="0">
                <a:solidFill>
                  <a:srgbClr val="526B71"/>
                </a:solidFill>
              </a:defRPr>
            </a:lvl3pPr>
            <a:lvl4pPr>
              <a:defRPr sz="1650" b="0">
                <a:solidFill>
                  <a:srgbClr val="526B71"/>
                </a:solidFill>
              </a:defRPr>
            </a:lvl4pPr>
            <a:lvl5pPr>
              <a:defRPr sz="1650" b="0">
                <a:solidFill>
                  <a:srgbClr val="526B71"/>
                </a:solidFill>
              </a:defRPr>
            </a:lvl5pPr>
            <a:lvl6pPr>
              <a:defRPr sz="1650" b="0">
                <a:solidFill>
                  <a:srgbClr val="526B71"/>
                </a:solidFill>
              </a:defRPr>
            </a:lvl6pPr>
            <a:lvl7pPr>
              <a:defRPr sz="1650" b="0">
                <a:solidFill>
                  <a:srgbClr val="526B71"/>
                </a:solidFill>
              </a:defRPr>
            </a:lvl7pPr>
            <a:lvl8pPr>
              <a:defRPr sz="1650" b="0">
                <a:solidFill>
                  <a:srgbClr val="526B71"/>
                </a:solidFill>
              </a:defRPr>
            </a:lvl8pPr>
            <a:lvl9pPr>
              <a:defRPr sz="1650" b="0">
                <a:solidFill>
                  <a:srgbClr val="526B71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71"/>
                </a:solidFill>
              </a:defRPr>
            </a:pPr>
            <a:r>
              <a:rPr sz="1650" b="0">
                <a:solidFill>
                  <a:srgbClr val="526B71"/>
                </a:solidFill>
              </a:rPr>
              <a:t>Happiest Health Digital Twin Challenge 2026</a:t>
            </a:r>
          </a:p>
          <a:p xmlns:a="http://schemas.openxmlformats.org/drawingml/2006/main">
            <a:pPr>
              <a:defRPr sz="1650" b="0">
                <a:solidFill>
                  <a:srgbClr val="526B71"/>
                </a:solidFill>
              </a:defRPr>
            </a:pPr>
            <a:r>
              <a:rPr sz="1650" b="0">
                <a:solidFill>
                  <a:srgbClr val="526B71"/>
                </a:solidFill>
              </a:rPr>
              <a:t>Team / institution: [FILL IN]    |    Research only</a:t>
            </a:r>
          </a:p>
        </p:txBody>
      </p:sp>
    </p:spTree>
    <p:extLst>
      <p:ext uri="{BB962C8B-B14F-4D97-AF65-F5344CB8AC3E}">
        <p14:creationId xmlns:p14="http://schemas.microsoft.com/office/powerpoint/2010/main" val="8479449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9C1B4-63EF-4A4E-856E-264F29A2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B3C"/>
                </a:solidFill>
              </a:defRPr>
            </a:defPPr>
            <a:lvl1pPr>
              <a:defRPr sz="3300" b="1">
                <a:solidFill>
                  <a:srgbClr val="123B3C"/>
                </a:solidFill>
              </a:defRPr>
            </a:lvl1pPr>
            <a:lvl2pPr>
              <a:defRPr sz="3300" b="1">
                <a:solidFill>
                  <a:srgbClr val="123B3C"/>
                </a:solidFill>
              </a:defRPr>
            </a:lvl2pPr>
            <a:lvl3pPr>
              <a:defRPr sz="3300" b="1">
                <a:solidFill>
                  <a:srgbClr val="123B3C"/>
                </a:solidFill>
              </a:defRPr>
            </a:lvl3pPr>
            <a:lvl4pPr>
              <a:defRPr sz="3300" b="1">
                <a:solidFill>
                  <a:srgbClr val="123B3C"/>
                </a:solidFill>
              </a:defRPr>
            </a:lvl4pPr>
            <a:lvl5pPr>
              <a:defRPr sz="3300" b="1">
                <a:solidFill>
                  <a:srgbClr val="123B3C"/>
                </a:solidFill>
              </a:defRPr>
            </a:lvl5pPr>
            <a:lvl6pPr>
              <a:defRPr sz="3300" b="1">
                <a:solidFill>
                  <a:srgbClr val="123B3C"/>
                </a:solidFill>
              </a:defRPr>
            </a:lvl6pPr>
            <a:lvl7pPr>
              <a:defRPr sz="3300" b="1">
                <a:solidFill>
                  <a:srgbClr val="123B3C"/>
                </a:solidFill>
              </a:defRPr>
            </a:lvl7pPr>
            <a:lvl8pPr>
              <a:defRPr sz="3300" b="1">
                <a:solidFill>
                  <a:srgbClr val="123B3C"/>
                </a:solidFill>
              </a:defRPr>
            </a:lvl8pPr>
            <a:lvl9pPr>
              <a:defRPr sz="3300" b="1">
                <a:solidFill>
                  <a:srgbClr val="123B3C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B3C"/>
                </a:solidFill>
              </a:defRPr>
            </a:pPr>
            <a:r>
              <a:rPr sz="3300" b="1">
                <a:solidFill>
                  <a:srgbClr val="123B3C"/>
                </a:solidFill>
              </a:rPr>
              <a:t>The focused use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19175-DD67-46D1-ADFC-C4004C74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B71"/>
                </a:solidFill>
              </a:defRPr>
            </a:defPPr>
            <a:lvl1pPr>
              <a:defRPr sz="1800" b="0">
                <a:solidFill>
                  <a:srgbClr val="526B71"/>
                </a:solidFill>
              </a:defRPr>
            </a:lvl1pPr>
            <a:lvl2pPr>
              <a:defRPr sz="1800" b="0">
                <a:solidFill>
                  <a:srgbClr val="526B71"/>
                </a:solidFill>
              </a:defRPr>
            </a:lvl2pPr>
            <a:lvl3pPr>
              <a:defRPr sz="1800" b="0">
                <a:solidFill>
                  <a:srgbClr val="526B71"/>
                </a:solidFill>
              </a:defRPr>
            </a:lvl3pPr>
            <a:lvl4pPr>
              <a:defRPr sz="1800" b="0">
                <a:solidFill>
                  <a:srgbClr val="526B71"/>
                </a:solidFill>
              </a:defRPr>
            </a:lvl4pPr>
            <a:lvl5pPr>
              <a:defRPr sz="1800" b="0">
                <a:solidFill>
                  <a:srgbClr val="526B71"/>
                </a:solidFill>
              </a:defRPr>
            </a:lvl5pPr>
            <a:lvl6pPr>
              <a:defRPr sz="1800" b="0">
                <a:solidFill>
                  <a:srgbClr val="526B71"/>
                </a:solidFill>
              </a:defRPr>
            </a:lvl6pPr>
            <a:lvl7pPr>
              <a:defRPr sz="1800" b="0">
                <a:solidFill>
                  <a:srgbClr val="526B71"/>
                </a:solidFill>
              </a:defRPr>
            </a:lvl7pPr>
            <a:lvl8pPr>
              <a:defRPr sz="1800" b="0">
                <a:solidFill>
                  <a:srgbClr val="526B71"/>
                </a:solidFill>
              </a:defRPr>
            </a:lvl8pPr>
            <a:lvl9pPr>
              <a:defRPr sz="1800" b="0">
                <a:solidFill>
                  <a:srgbClr val="526B7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B71"/>
                </a:solidFill>
              </a:defRPr>
            </a:pPr>
            <a:r>
              <a:rPr sz="1800" b="0">
                <a:solidFill>
                  <a:srgbClr val="526B71"/>
                </a:solidFill>
              </a:rPr>
              <a:t>Forecast glucose trajectories up to 120 minutes in a bounded software demonstrator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C2929-D3D5-41D4-8473-65F3A12B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796C"/>
                </a:solidFill>
              </a:defRPr>
            </a:defPPr>
            <a:lvl1pPr>
              <a:defRPr sz="1875" b="1">
                <a:solidFill>
                  <a:srgbClr val="13796C"/>
                </a:solidFill>
              </a:defRPr>
            </a:lvl1pPr>
            <a:lvl2pPr>
              <a:defRPr sz="1875" b="1">
                <a:solidFill>
                  <a:srgbClr val="13796C"/>
                </a:solidFill>
              </a:defRPr>
            </a:lvl2pPr>
            <a:lvl3pPr>
              <a:defRPr sz="1875" b="1">
                <a:solidFill>
                  <a:srgbClr val="13796C"/>
                </a:solidFill>
              </a:defRPr>
            </a:lvl3pPr>
            <a:lvl4pPr>
              <a:defRPr sz="1875" b="1">
                <a:solidFill>
                  <a:srgbClr val="13796C"/>
                </a:solidFill>
              </a:defRPr>
            </a:lvl4pPr>
            <a:lvl5pPr>
              <a:defRPr sz="1875" b="1">
                <a:solidFill>
                  <a:srgbClr val="13796C"/>
                </a:solidFill>
              </a:defRPr>
            </a:lvl5pPr>
            <a:lvl6pPr>
              <a:defRPr sz="1875" b="1">
                <a:solidFill>
                  <a:srgbClr val="13796C"/>
                </a:solidFill>
              </a:defRPr>
            </a:lvl6pPr>
            <a:lvl7pPr>
              <a:defRPr sz="1875" b="1">
                <a:solidFill>
                  <a:srgbClr val="13796C"/>
                </a:solidFill>
              </a:defRPr>
            </a:lvl7pPr>
            <a:lvl8pPr>
              <a:defRPr sz="1875" b="1">
                <a:solidFill>
                  <a:srgbClr val="13796C"/>
                </a:solidFill>
              </a:defRPr>
            </a:lvl8pPr>
            <a:lvl9pPr>
              <a:defRPr sz="1875" b="1">
                <a:solidFill>
                  <a:srgbClr val="13796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796C"/>
                </a:solidFill>
              </a:defRPr>
            </a:pPr>
            <a:r>
              <a:rPr sz="1875" b="1">
                <a:solidFill>
                  <a:srgbClr val="13796C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5FC24-8215-4DC0-A6E7-5B29DD4D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3F"/>
                </a:solidFill>
              </a:defRPr>
            </a:defPPr>
            <a:lvl1pPr>
              <a:defRPr sz="2100" b="0">
                <a:solidFill>
                  <a:srgbClr val="20383F"/>
                </a:solidFill>
              </a:defRPr>
            </a:lvl1pPr>
            <a:lvl2pPr>
              <a:defRPr sz="2100" b="0">
                <a:solidFill>
                  <a:srgbClr val="20383F"/>
                </a:solidFill>
              </a:defRPr>
            </a:lvl2pPr>
            <a:lvl3pPr>
              <a:defRPr sz="2100" b="0">
                <a:solidFill>
                  <a:srgbClr val="20383F"/>
                </a:solidFill>
              </a:defRPr>
            </a:lvl3pPr>
            <a:lvl4pPr>
              <a:defRPr sz="2100" b="0">
                <a:solidFill>
                  <a:srgbClr val="20383F"/>
                </a:solidFill>
              </a:defRPr>
            </a:lvl4pPr>
            <a:lvl5pPr>
              <a:defRPr sz="2100" b="0">
                <a:solidFill>
                  <a:srgbClr val="20383F"/>
                </a:solidFill>
              </a:defRPr>
            </a:lvl5pPr>
            <a:lvl6pPr>
              <a:defRPr sz="2100" b="0">
                <a:solidFill>
                  <a:srgbClr val="20383F"/>
                </a:solidFill>
              </a:defRPr>
            </a:lvl6pPr>
            <a:lvl7pPr>
              <a:defRPr sz="2100" b="0">
                <a:solidFill>
                  <a:srgbClr val="20383F"/>
                </a:solidFill>
              </a:defRPr>
            </a:lvl7pPr>
            <a:lvl8pPr>
              <a:defRPr sz="2100" b="0">
                <a:solidFill>
                  <a:srgbClr val="20383F"/>
                </a:solidFill>
              </a:defRPr>
            </a:lvl8pPr>
            <a:lvl9pPr>
              <a:defRPr sz="2100" b="0">
                <a:solidFill>
                  <a:srgbClr val="20383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3F"/>
                </a:solidFill>
              </a:defRPr>
            </a:pPr>
            <a:r>
              <a:rPr sz="2100" b="0">
                <a:solidFill>
                  <a:srgbClr val="20383F"/>
                </a:solidFill>
              </a:rPr>
              <a:t>Research flags: glucose above 180 or below 70 mg/dL.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3D6B7-3AE2-4F28-B176-8AC5B675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796C"/>
                </a:solidFill>
              </a:defRPr>
            </a:defPPr>
            <a:lvl1pPr>
              <a:defRPr sz="1875" b="1">
                <a:solidFill>
                  <a:srgbClr val="13796C"/>
                </a:solidFill>
              </a:defRPr>
            </a:lvl1pPr>
            <a:lvl2pPr>
              <a:defRPr sz="1875" b="1">
                <a:solidFill>
                  <a:srgbClr val="13796C"/>
                </a:solidFill>
              </a:defRPr>
            </a:lvl2pPr>
            <a:lvl3pPr>
              <a:defRPr sz="1875" b="1">
                <a:solidFill>
                  <a:srgbClr val="13796C"/>
                </a:solidFill>
              </a:defRPr>
            </a:lvl3pPr>
            <a:lvl4pPr>
              <a:defRPr sz="1875" b="1">
                <a:solidFill>
                  <a:srgbClr val="13796C"/>
                </a:solidFill>
              </a:defRPr>
            </a:lvl4pPr>
            <a:lvl5pPr>
              <a:defRPr sz="1875" b="1">
                <a:solidFill>
                  <a:srgbClr val="13796C"/>
                </a:solidFill>
              </a:defRPr>
            </a:lvl5pPr>
            <a:lvl6pPr>
              <a:defRPr sz="1875" b="1">
                <a:solidFill>
                  <a:srgbClr val="13796C"/>
                </a:solidFill>
              </a:defRPr>
            </a:lvl6pPr>
            <a:lvl7pPr>
              <a:defRPr sz="1875" b="1">
                <a:solidFill>
                  <a:srgbClr val="13796C"/>
                </a:solidFill>
              </a:defRPr>
            </a:lvl7pPr>
            <a:lvl8pPr>
              <a:defRPr sz="1875" b="1">
                <a:solidFill>
                  <a:srgbClr val="13796C"/>
                </a:solidFill>
              </a:defRPr>
            </a:lvl8pPr>
            <a:lvl9pPr>
              <a:defRPr sz="1875" b="1">
                <a:solidFill>
                  <a:srgbClr val="13796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796C"/>
                </a:solidFill>
              </a:defRPr>
            </a:pPr>
            <a:r>
              <a:rPr sz="1875" b="1">
                <a:solidFill>
                  <a:srgbClr val="13796C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9359B-902E-47F6-ABB8-BF0B0FF5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3F"/>
                </a:solidFill>
              </a:defRPr>
            </a:defPPr>
            <a:lvl1pPr>
              <a:defRPr sz="2100" b="0">
                <a:solidFill>
                  <a:srgbClr val="20383F"/>
                </a:solidFill>
              </a:defRPr>
            </a:lvl1pPr>
            <a:lvl2pPr>
              <a:defRPr sz="2100" b="0">
                <a:solidFill>
                  <a:srgbClr val="20383F"/>
                </a:solidFill>
              </a:defRPr>
            </a:lvl2pPr>
            <a:lvl3pPr>
              <a:defRPr sz="2100" b="0">
                <a:solidFill>
                  <a:srgbClr val="20383F"/>
                </a:solidFill>
              </a:defRPr>
            </a:lvl3pPr>
            <a:lvl4pPr>
              <a:defRPr sz="2100" b="0">
                <a:solidFill>
                  <a:srgbClr val="20383F"/>
                </a:solidFill>
              </a:defRPr>
            </a:lvl4pPr>
            <a:lvl5pPr>
              <a:defRPr sz="2100" b="0">
                <a:solidFill>
                  <a:srgbClr val="20383F"/>
                </a:solidFill>
              </a:defRPr>
            </a:lvl5pPr>
            <a:lvl6pPr>
              <a:defRPr sz="2100" b="0">
                <a:solidFill>
                  <a:srgbClr val="20383F"/>
                </a:solidFill>
              </a:defRPr>
            </a:lvl6pPr>
            <a:lvl7pPr>
              <a:defRPr sz="2100" b="0">
                <a:solidFill>
                  <a:srgbClr val="20383F"/>
                </a:solidFill>
              </a:defRPr>
            </a:lvl7pPr>
            <a:lvl8pPr>
              <a:defRPr sz="2100" b="0">
                <a:solidFill>
                  <a:srgbClr val="20383F"/>
                </a:solidFill>
              </a:defRPr>
            </a:lvl8pPr>
            <a:lvl9pPr>
              <a:defRPr sz="2100" b="0">
                <a:solidFill>
                  <a:srgbClr val="20383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3F"/>
                </a:solidFill>
              </a:defRPr>
            </a:pPr>
            <a:r>
              <a:rPr sz="2100" b="0">
                <a:solidFill>
                  <a:srgbClr val="20383F"/>
                </a:solidFill>
              </a:rPr>
              <a:t>Three fictional outpatient contexts reflect comorbidity, waist/BMI and shift-work fields.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8AF3C-9981-4D3E-B6E8-9CE882F2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796C"/>
                </a:solidFill>
              </a:defRPr>
            </a:defPPr>
            <a:lvl1pPr>
              <a:defRPr sz="1875" b="1">
                <a:solidFill>
                  <a:srgbClr val="13796C"/>
                </a:solidFill>
              </a:defRPr>
            </a:lvl1pPr>
            <a:lvl2pPr>
              <a:defRPr sz="1875" b="1">
                <a:solidFill>
                  <a:srgbClr val="13796C"/>
                </a:solidFill>
              </a:defRPr>
            </a:lvl2pPr>
            <a:lvl3pPr>
              <a:defRPr sz="1875" b="1">
                <a:solidFill>
                  <a:srgbClr val="13796C"/>
                </a:solidFill>
              </a:defRPr>
            </a:lvl3pPr>
            <a:lvl4pPr>
              <a:defRPr sz="1875" b="1">
                <a:solidFill>
                  <a:srgbClr val="13796C"/>
                </a:solidFill>
              </a:defRPr>
            </a:lvl4pPr>
            <a:lvl5pPr>
              <a:defRPr sz="1875" b="1">
                <a:solidFill>
                  <a:srgbClr val="13796C"/>
                </a:solidFill>
              </a:defRPr>
            </a:lvl5pPr>
            <a:lvl6pPr>
              <a:defRPr sz="1875" b="1">
                <a:solidFill>
                  <a:srgbClr val="13796C"/>
                </a:solidFill>
              </a:defRPr>
            </a:lvl6pPr>
            <a:lvl7pPr>
              <a:defRPr sz="1875" b="1">
                <a:solidFill>
                  <a:srgbClr val="13796C"/>
                </a:solidFill>
              </a:defRPr>
            </a:lvl7pPr>
            <a:lvl8pPr>
              <a:defRPr sz="1875" b="1">
                <a:solidFill>
                  <a:srgbClr val="13796C"/>
                </a:solidFill>
              </a:defRPr>
            </a:lvl8pPr>
            <a:lvl9pPr>
              <a:defRPr sz="1875" b="1">
                <a:solidFill>
                  <a:srgbClr val="13796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796C"/>
                </a:solidFill>
              </a:defRPr>
            </a:pPr>
            <a:r>
              <a:rPr sz="1875" b="1">
                <a:solidFill>
                  <a:srgbClr val="13796C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2FA7E-5D29-4A54-9AEA-813F59A9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3F"/>
                </a:solidFill>
              </a:defRPr>
            </a:defPPr>
            <a:lvl1pPr>
              <a:defRPr sz="2100" b="0">
                <a:solidFill>
                  <a:srgbClr val="20383F"/>
                </a:solidFill>
              </a:defRPr>
            </a:lvl1pPr>
            <a:lvl2pPr>
              <a:defRPr sz="2100" b="0">
                <a:solidFill>
                  <a:srgbClr val="20383F"/>
                </a:solidFill>
              </a:defRPr>
            </a:lvl2pPr>
            <a:lvl3pPr>
              <a:defRPr sz="2100" b="0">
                <a:solidFill>
                  <a:srgbClr val="20383F"/>
                </a:solidFill>
              </a:defRPr>
            </a:lvl3pPr>
            <a:lvl4pPr>
              <a:defRPr sz="2100" b="0">
                <a:solidFill>
                  <a:srgbClr val="20383F"/>
                </a:solidFill>
              </a:defRPr>
            </a:lvl4pPr>
            <a:lvl5pPr>
              <a:defRPr sz="2100" b="0">
                <a:solidFill>
                  <a:srgbClr val="20383F"/>
                </a:solidFill>
              </a:defRPr>
            </a:lvl5pPr>
            <a:lvl6pPr>
              <a:defRPr sz="2100" b="0">
                <a:solidFill>
                  <a:srgbClr val="20383F"/>
                </a:solidFill>
              </a:defRPr>
            </a:lvl6pPr>
            <a:lvl7pPr>
              <a:defRPr sz="2100" b="0">
                <a:solidFill>
                  <a:srgbClr val="20383F"/>
                </a:solidFill>
              </a:defRPr>
            </a:lvl7pPr>
            <a:lvl8pPr>
              <a:defRPr sz="2100" b="0">
                <a:solidFill>
                  <a:srgbClr val="20383F"/>
                </a:solidFill>
              </a:defRPr>
            </a:lvl8pPr>
            <a:lvl9pPr>
              <a:defRPr sz="2100" b="0">
                <a:solidFill>
                  <a:srgbClr val="20383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3F"/>
                </a:solidFill>
              </a:defRPr>
            </a:pPr>
            <a:r>
              <a:rPr sz="2100" b="0">
                <a:solidFill>
                  <a:srgbClr val="20383F"/>
                </a:solidFill>
              </a:rPr>
              <a:t>India-specific context does not imply ethnicity-based physiology or a representative cohort.</a:t>
            </a:r>
          </a:p>
        </p:txBody>
      </p:sp>
    </p:spTree>
    <p:extLst>
      <p:ext uri="{BB962C8B-B14F-4D97-AF65-F5344CB8AC3E}">
        <p14:creationId xmlns:p14="http://schemas.microsoft.com/office/powerpoint/2010/main" val="13459184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20C6B-4536-4254-8799-C1649789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B3C"/>
                </a:solidFill>
              </a:defRPr>
            </a:defPPr>
            <a:lvl1pPr>
              <a:defRPr sz="3300" b="1">
                <a:solidFill>
                  <a:srgbClr val="123B3C"/>
                </a:solidFill>
              </a:defRPr>
            </a:lvl1pPr>
            <a:lvl2pPr>
              <a:defRPr sz="3300" b="1">
                <a:solidFill>
                  <a:srgbClr val="123B3C"/>
                </a:solidFill>
              </a:defRPr>
            </a:lvl2pPr>
            <a:lvl3pPr>
              <a:defRPr sz="3300" b="1">
                <a:solidFill>
                  <a:srgbClr val="123B3C"/>
                </a:solidFill>
              </a:defRPr>
            </a:lvl3pPr>
            <a:lvl4pPr>
              <a:defRPr sz="3300" b="1">
                <a:solidFill>
                  <a:srgbClr val="123B3C"/>
                </a:solidFill>
              </a:defRPr>
            </a:lvl4pPr>
            <a:lvl5pPr>
              <a:defRPr sz="3300" b="1">
                <a:solidFill>
                  <a:srgbClr val="123B3C"/>
                </a:solidFill>
              </a:defRPr>
            </a:lvl5pPr>
            <a:lvl6pPr>
              <a:defRPr sz="3300" b="1">
                <a:solidFill>
                  <a:srgbClr val="123B3C"/>
                </a:solidFill>
              </a:defRPr>
            </a:lvl6pPr>
            <a:lvl7pPr>
              <a:defRPr sz="3300" b="1">
                <a:solidFill>
                  <a:srgbClr val="123B3C"/>
                </a:solidFill>
              </a:defRPr>
            </a:lvl7pPr>
            <a:lvl8pPr>
              <a:defRPr sz="3300" b="1">
                <a:solidFill>
                  <a:srgbClr val="123B3C"/>
                </a:solidFill>
              </a:defRPr>
            </a:lvl8pPr>
            <a:lvl9pPr>
              <a:defRPr sz="3300" b="1">
                <a:solidFill>
                  <a:srgbClr val="123B3C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B3C"/>
                </a:solidFill>
              </a:defRPr>
            </a:pPr>
            <a:r>
              <a:rPr sz="3300" b="1">
                <a:solidFill>
                  <a:srgbClr val="123B3C"/>
                </a:solidFill>
              </a:rPr>
              <a:t>Two streams update one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97F97-BC7B-40D6-8923-C4C6DE1E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B71"/>
                </a:solidFill>
              </a:defRPr>
            </a:defPPr>
            <a:lvl1pPr>
              <a:defRPr sz="1800" b="0">
                <a:solidFill>
                  <a:srgbClr val="526B71"/>
                </a:solidFill>
              </a:defRPr>
            </a:lvl1pPr>
            <a:lvl2pPr>
              <a:defRPr sz="1800" b="0">
                <a:solidFill>
                  <a:srgbClr val="526B71"/>
                </a:solidFill>
              </a:defRPr>
            </a:lvl2pPr>
            <a:lvl3pPr>
              <a:defRPr sz="1800" b="0">
                <a:solidFill>
                  <a:srgbClr val="526B71"/>
                </a:solidFill>
              </a:defRPr>
            </a:lvl3pPr>
            <a:lvl4pPr>
              <a:defRPr sz="1800" b="0">
                <a:solidFill>
                  <a:srgbClr val="526B71"/>
                </a:solidFill>
              </a:defRPr>
            </a:lvl4pPr>
            <a:lvl5pPr>
              <a:defRPr sz="1800" b="0">
                <a:solidFill>
                  <a:srgbClr val="526B71"/>
                </a:solidFill>
              </a:defRPr>
            </a:lvl5pPr>
            <a:lvl6pPr>
              <a:defRPr sz="1800" b="0">
                <a:solidFill>
                  <a:srgbClr val="526B71"/>
                </a:solidFill>
              </a:defRPr>
            </a:lvl6pPr>
            <a:lvl7pPr>
              <a:defRPr sz="1800" b="0">
                <a:solidFill>
                  <a:srgbClr val="526B71"/>
                </a:solidFill>
              </a:defRPr>
            </a:lvl7pPr>
            <a:lvl8pPr>
              <a:defRPr sz="1800" b="0">
                <a:solidFill>
                  <a:srgbClr val="526B71"/>
                </a:solidFill>
              </a:defRPr>
            </a:lvl8pPr>
            <a:lvl9pPr>
              <a:defRPr sz="1800" b="0">
                <a:solidFill>
                  <a:srgbClr val="526B7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B71"/>
                </a:solidFill>
              </a:defRPr>
            </a:pPr>
            <a:r>
              <a:rPr sz="1800" b="0">
                <a:solidFill>
                  <a:srgbClr val="526B71"/>
                </a:solidFill>
              </a:rPr>
              <a:t>The historical glucose Observation initializes the state used by the replay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DF8C9-4320-435A-9ACA-04969B23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7"/>
          </a:solidFill>
          <a:ln xmlns:a="http://schemas.openxmlformats.org/drawingml/2006/main" w="9525">
            <a:solidFill>
              <a:srgbClr val="A6C5B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96326-6773-4218-A708-2793317F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23B3C"/>
                </a:solidFill>
              </a:defRPr>
            </a:defPPr>
            <a:lvl1pPr>
              <a:defRPr sz="1950" b="1">
                <a:solidFill>
                  <a:srgbClr val="123B3C"/>
                </a:solidFill>
              </a:defRPr>
            </a:lvl1pPr>
            <a:lvl2pPr>
              <a:defRPr sz="1950" b="1">
                <a:solidFill>
                  <a:srgbClr val="123B3C"/>
                </a:solidFill>
              </a:defRPr>
            </a:lvl2pPr>
            <a:lvl3pPr>
              <a:defRPr sz="1950" b="1">
                <a:solidFill>
                  <a:srgbClr val="123B3C"/>
                </a:solidFill>
              </a:defRPr>
            </a:lvl3pPr>
            <a:lvl4pPr>
              <a:defRPr sz="1950" b="1">
                <a:solidFill>
                  <a:srgbClr val="123B3C"/>
                </a:solidFill>
              </a:defRPr>
            </a:lvl4pPr>
            <a:lvl5pPr>
              <a:defRPr sz="1950" b="1">
                <a:solidFill>
                  <a:srgbClr val="123B3C"/>
                </a:solidFill>
              </a:defRPr>
            </a:lvl5pPr>
            <a:lvl6pPr>
              <a:defRPr sz="1950" b="1">
                <a:solidFill>
                  <a:srgbClr val="123B3C"/>
                </a:solidFill>
              </a:defRPr>
            </a:lvl6pPr>
            <a:lvl7pPr>
              <a:defRPr sz="1950" b="1">
                <a:solidFill>
                  <a:srgbClr val="123B3C"/>
                </a:solidFill>
              </a:defRPr>
            </a:lvl7pPr>
            <a:lvl8pPr>
              <a:defRPr sz="1950" b="1">
                <a:solidFill>
                  <a:srgbClr val="123B3C"/>
                </a:solidFill>
              </a:defRPr>
            </a:lvl8pPr>
            <a:lvl9pPr>
              <a:defRPr sz="1950" b="1">
                <a:solidFill>
                  <a:srgbClr val="123B3C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23B3C"/>
                </a:solidFill>
              </a:defRPr>
            </a:pPr>
            <a:r>
              <a:rPr sz="1950" b="1">
                <a:solidFill>
                  <a:srgbClr val="123B3C"/>
                </a:solidFill>
              </a:rPr>
              <a:t>FHIR R4 document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E778D-5A07-4211-9D26-638E5637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7"/>
          </a:solidFill>
          <a:ln xmlns:a="http://schemas.openxmlformats.org/drawingml/2006/main" w="9525">
            <a:solidFill>
              <a:srgbClr val="A6C5B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FBB24-8A17-421C-9687-92B6E3FF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23B3C"/>
                </a:solidFill>
              </a:defRPr>
            </a:defPPr>
            <a:lvl1pPr>
              <a:defRPr sz="1950" b="1">
                <a:solidFill>
                  <a:srgbClr val="123B3C"/>
                </a:solidFill>
              </a:defRPr>
            </a:lvl1pPr>
            <a:lvl2pPr>
              <a:defRPr sz="1950" b="1">
                <a:solidFill>
                  <a:srgbClr val="123B3C"/>
                </a:solidFill>
              </a:defRPr>
            </a:lvl2pPr>
            <a:lvl3pPr>
              <a:defRPr sz="1950" b="1">
                <a:solidFill>
                  <a:srgbClr val="123B3C"/>
                </a:solidFill>
              </a:defRPr>
            </a:lvl3pPr>
            <a:lvl4pPr>
              <a:defRPr sz="1950" b="1">
                <a:solidFill>
                  <a:srgbClr val="123B3C"/>
                </a:solidFill>
              </a:defRPr>
            </a:lvl4pPr>
            <a:lvl5pPr>
              <a:defRPr sz="1950" b="1">
                <a:solidFill>
                  <a:srgbClr val="123B3C"/>
                </a:solidFill>
              </a:defRPr>
            </a:lvl5pPr>
            <a:lvl6pPr>
              <a:defRPr sz="1950" b="1">
                <a:solidFill>
                  <a:srgbClr val="123B3C"/>
                </a:solidFill>
              </a:defRPr>
            </a:lvl6pPr>
            <a:lvl7pPr>
              <a:defRPr sz="1950" b="1">
                <a:solidFill>
                  <a:srgbClr val="123B3C"/>
                </a:solidFill>
              </a:defRPr>
            </a:lvl7pPr>
            <a:lvl8pPr>
              <a:defRPr sz="1950" b="1">
                <a:solidFill>
                  <a:srgbClr val="123B3C"/>
                </a:solidFill>
              </a:defRPr>
            </a:lvl8pPr>
            <a:lvl9pPr>
              <a:defRPr sz="1950" b="1">
                <a:solidFill>
                  <a:srgbClr val="123B3C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23B3C"/>
                </a:solidFill>
              </a:defRPr>
            </a:pPr>
            <a:r>
              <a:rPr sz="1950" b="1">
                <a:solidFill>
                  <a:srgbClr val="123B3C"/>
                </a:solidFill>
              </a:rPr>
              <a:t>5-minute telemetry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C8963-B980-409B-9610-25837834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04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7"/>
          </a:solidFill>
          <a:ln xmlns:a="http://schemas.openxmlformats.org/drawingml/2006/main" w="9525">
            <a:solidFill>
              <a:srgbClr val="A6C5B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8E03E-4F97-4256-A686-2B1D7047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623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23B3C"/>
                </a:solidFill>
              </a:defRPr>
            </a:defPPr>
            <a:lvl1pPr>
              <a:defRPr sz="1950" b="1">
                <a:solidFill>
                  <a:srgbClr val="123B3C"/>
                </a:solidFill>
              </a:defRPr>
            </a:lvl1pPr>
            <a:lvl2pPr>
              <a:defRPr sz="1950" b="1">
                <a:solidFill>
                  <a:srgbClr val="123B3C"/>
                </a:solidFill>
              </a:defRPr>
            </a:lvl2pPr>
            <a:lvl3pPr>
              <a:defRPr sz="1950" b="1">
                <a:solidFill>
                  <a:srgbClr val="123B3C"/>
                </a:solidFill>
              </a:defRPr>
            </a:lvl3pPr>
            <a:lvl4pPr>
              <a:defRPr sz="1950" b="1">
                <a:solidFill>
                  <a:srgbClr val="123B3C"/>
                </a:solidFill>
              </a:defRPr>
            </a:lvl4pPr>
            <a:lvl5pPr>
              <a:defRPr sz="1950" b="1">
                <a:solidFill>
                  <a:srgbClr val="123B3C"/>
                </a:solidFill>
              </a:defRPr>
            </a:lvl5pPr>
            <a:lvl6pPr>
              <a:defRPr sz="1950" b="1">
                <a:solidFill>
                  <a:srgbClr val="123B3C"/>
                </a:solidFill>
              </a:defRPr>
            </a:lvl6pPr>
            <a:lvl7pPr>
              <a:defRPr sz="1950" b="1">
                <a:solidFill>
                  <a:srgbClr val="123B3C"/>
                </a:solidFill>
              </a:defRPr>
            </a:lvl7pPr>
            <a:lvl8pPr>
              <a:defRPr sz="1950" b="1">
                <a:solidFill>
                  <a:srgbClr val="123B3C"/>
                </a:solidFill>
              </a:defRPr>
            </a:lvl8pPr>
            <a:lvl9pPr>
              <a:defRPr sz="1950" b="1">
                <a:solidFill>
                  <a:srgbClr val="123B3C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23B3C"/>
                </a:solidFill>
              </a:defRPr>
            </a:pPr>
            <a:r>
              <a:rPr sz="1950" b="1">
                <a:solidFill>
                  <a:srgbClr val="123B3C"/>
                </a:solidFill>
              </a:rPr>
              <a:t>Causal twin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FC293-84D6-40DA-9FB1-B1BA462D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952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7"/>
          </a:solidFill>
          <a:ln xmlns:a="http://schemas.openxmlformats.org/drawingml/2006/main" w="9525">
            <a:solidFill>
              <a:srgbClr val="A6C5B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EB5AB-864A-4B82-8E67-B14DA09C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6235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23B3C"/>
                </a:solidFill>
              </a:defRPr>
            </a:defPPr>
            <a:lvl1pPr>
              <a:defRPr sz="1950" b="1">
                <a:solidFill>
                  <a:srgbClr val="123B3C"/>
                </a:solidFill>
              </a:defRPr>
            </a:lvl1pPr>
            <a:lvl2pPr>
              <a:defRPr sz="1950" b="1">
                <a:solidFill>
                  <a:srgbClr val="123B3C"/>
                </a:solidFill>
              </a:defRPr>
            </a:lvl2pPr>
            <a:lvl3pPr>
              <a:defRPr sz="1950" b="1">
                <a:solidFill>
                  <a:srgbClr val="123B3C"/>
                </a:solidFill>
              </a:defRPr>
            </a:lvl3pPr>
            <a:lvl4pPr>
              <a:defRPr sz="1950" b="1">
                <a:solidFill>
                  <a:srgbClr val="123B3C"/>
                </a:solidFill>
              </a:defRPr>
            </a:lvl4pPr>
            <a:lvl5pPr>
              <a:defRPr sz="1950" b="1">
                <a:solidFill>
                  <a:srgbClr val="123B3C"/>
                </a:solidFill>
              </a:defRPr>
            </a:lvl5pPr>
            <a:lvl6pPr>
              <a:defRPr sz="1950" b="1">
                <a:solidFill>
                  <a:srgbClr val="123B3C"/>
                </a:solidFill>
              </a:defRPr>
            </a:lvl6pPr>
            <a:lvl7pPr>
              <a:defRPr sz="1950" b="1">
                <a:solidFill>
                  <a:srgbClr val="123B3C"/>
                </a:solidFill>
              </a:defRPr>
            </a:lvl7pPr>
            <a:lvl8pPr>
              <a:defRPr sz="1950" b="1">
                <a:solidFill>
                  <a:srgbClr val="123B3C"/>
                </a:solidFill>
              </a:defRPr>
            </a:lvl8pPr>
            <a:lvl9pPr>
              <a:defRPr sz="1950" b="1">
                <a:solidFill>
                  <a:srgbClr val="123B3C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23B3C"/>
                </a:solidFill>
              </a:defRPr>
            </a:pPr>
            <a:r>
              <a:rPr sz="1950" b="1">
                <a:solidFill>
                  <a:srgbClr val="123B3C"/>
                </a:solidFill>
              </a:rPr>
              <a:t>Forecast +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22D34-A31B-43FE-ABF6-A3DC7B4C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670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3796C"/>
                </a:solidFill>
              </a:defRPr>
            </a:defPPr>
            <a:lvl1pPr>
              <a:defRPr sz="1575" b="0">
                <a:solidFill>
                  <a:srgbClr val="13796C"/>
                </a:solidFill>
              </a:defRPr>
            </a:lvl1pPr>
            <a:lvl2pPr>
              <a:defRPr sz="1575" b="0">
                <a:solidFill>
                  <a:srgbClr val="13796C"/>
                </a:solidFill>
              </a:defRPr>
            </a:lvl2pPr>
            <a:lvl3pPr>
              <a:defRPr sz="1575" b="0">
                <a:solidFill>
                  <a:srgbClr val="13796C"/>
                </a:solidFill>
              </a:defRPr>
            </a:lvl3pPr>
            <a:lvl4pPr>
              <a:defRPr sz="1575" b="0">
                <a:solidFill>
                  <a:srgbClr val="13796C"/>
                </a:solidFill>
              </a:defRPr>
            </a:lvl4pPr>
            <a:lvl5pPr>
              <a:defRPr sz="1575" b="0">
                <a:solidFill>
                  <a:srgbClr val="13796C"/>
                </a:solidFill>
              </a:defRPr>
            </a:lvl5pPr>
            <a:lvl6pPr>
              <a:defRPr sz="1575" b="0">
                <a:solidFill>
                  <a:srgbClr val="13796C"/>
                </a:solidFill>
              </a:defRPr>
            </a:lvl6pPr>
            <a:lvl7pPr>
              <a:defRPr sz="1575" b="0">
                <a:solidFill>
                  <a:srgbClr val="13796C"/>
                </a:solidFill>
              </a:defRPr>
            </a:lvl7pPr>
            <a:lvl8pPr>
              <a:defRPr sz="1575" b="0">
                <a:solidFill>
                  <a:srgbClr val="13796C"/>
                </a:solidFill>
              </a:defRPr>
            </a:lvl8pPr>
            <a:lvl9pPr>
              <a:defRPr sz="1575" b="0">
                <a:solidFill>
                  <a:srgbClr val="13796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3796C"/>
                </a:solidFill>
              </a:defRPr>
            </a:pPr>
            <a:r>
              <a:rPr sz="1575" b="0">
                <a:solidFill>
                  <a:srgbClr val="13796C"/>
                </a:solidFill>
              </a:rPr>
              <a:t>EHR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2263B-BE08-4A7F-8191-28E0C0AB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815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3796C"/>
                </a:solidFill>
              </a:defRPr>
            </a:defPPr>
            <a:lvl1pPr>
              <a:defRPr sz="1575" b="0">
                <a:solidFill>
                  <a:srgbClr val="13796C"/>
                </a:solidFill>
              </a:defRPr>
            </a:lvl1pPr>
            <a:lvl2pPr>
              <a:defRPr sz="1575" b="0">
                <a:solidFill>
                  <a:srgbClr val="13796C"/>
                </a:solidFill>
              </a:defRPr>
            </a:lvl2pPr>
            <a:lvl3pPr>
              <a:defRPr sz="1575" b="0">
                <a:solidFill>
                  <a:srgbClr val="13796C"/>
                </a:solidFill>
              </a:defRPr>
            </a:lvl3pPr>
            <a:lvl4pPr>
              <a:defRPr sz="1575" b="0">
                <a:solidFill>
                  <a:srgbClr val="13796C"/>
                </a:solidFill>
              </a:defRPr>
            </a:lvl4pPr>
            <a:lvl5pPr>
              <a:defRPr sz="1575" b="0">
                <a:solidFill>
                  <a:srgbClr val="13796C"/>
                </a:solidFill>
              </a:defRPr>
            </a:lvl5pPr>
            <a:lvl6pPr>
              <a:defRPr sz="1575" b="0">
                <a:solidFill>
                  <a:srgbClr val="13796C"/>
                </a:solidFill>
              </a:defRPr>
            </a:lvl6pPr>
            <a:lvl7pPr>
              <a:defRPr sz="1575" b="0">
                <a:solidFill>
                  <a:srgbClr val="13796C"/>
                </a:solidFill>
              </a:defRPr>
            </a:lvl7pPr>
            <a:lvl8pPr>
              <a:defRPr sz="1575" b="0">
                <a:solidFill>
                  <a:srgbClr val="13796C"/>
                </a:solidFill>
              </a:defRPr>
            </a:lvl8pPr>
            <a:lvl9pPr>
              <a:defRPr sz="1575" b="0">
                <a:solidFill>
                  <a:srgbClr val="13796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3796C"/>
                </a:solidFill>
              </a:defRPr>
            </a:pPr>
            <a:r>
              <a:rPr sz="1575" b="0">
                <a:solidFill>
                  <a:srgbClr val="13796C"/>
                </a:solidFill>
              </a:rPr>
              <a:t>Glucose + meal log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A0204-49BD-413E-93C6-58B08FF8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862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3796C"/>
                </a:solidFill>
              </a:defRPr>
            </a:defPPr>
            <a:lvl1pPr>
              <a:defRPr sz="1575" b="0">
                <a:solidFill>
                  <a:srgbClr val="13796C"/>
                </a:solidFill>
              </a:defRPr>
            </a:lvl1pPr>
            <a:lvl2pPr>
              <a:defRPr sz="1575" b="0">
                <a:solidFill>
                  <a:srgbClr val="13796C"/>
                </a:solidFill>
              </a:defRPr>
            </a:lvl2pPr>
            <a:lvl3pPr>
              <a:defRPr sz="1575" b="0">
                <a:solidFill>
                  <a:srgbClr val="13796C"/>
                </a:solidFill>
              </a:defRPr>
            </a:lvl3pPr>
            <a:lvl4pPr>
              <a:defRPr sz="1575" b="0">
                <a:solidFill>
                  <a:srgbClr val="13796C"/>
                </a:solidFill>
              </a:defRPr>
            </a:lvl4pPr>
            <a:lvl5pPr>
              <a:defRPr sz="1575" b="0">
                <a:solidFill>
                  <a:srgbClr val="13796C"/>
                </a:solidFill>
              </a:defRPr>
            </a:lvl5pPr>
            <a:lvl6pPr>
              <a:defRPr sz="1575" b="0">
                <a:solidFill>
                  <a:srgbClr val="13796C"/>
                </a:solidFill>
              </a:defRPr>
            </a:lvl6pPr>
            <a:lvl7pPr>
              <a:defRPr sz="1575" b="0">
                <a:solidFill>
                  <a:srgbClr val="13796C"/>
                </a:solidFill>
              </a:defRPr>
            </a:lvl7pPr>
            <a:lvl8pPr>
              <a:defRPr sz="1575" b="0">
                <a:solidFill>
                  <a:srgbClr val="13796C"/>
                </a:solidFill>
              </a:defRPr>
            </a:lvl8pPr>
            <a:lvl9pPr>
              <a:defRPr sz="1575" b="0">
                <a:solidFill>
                  <a:srgbClr val="13796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3796C"/>
                </a:solidFill>
              </a:defRPr>
            </a:pPr>
            <a:r>
              <a:rPr sz="1575" b="0">
                <a:solidFill>
                  <a:srgbClr val="13796C"/>
                </a:solidFill>
              </a:rPr>
              <a:t>REST / WebSocket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2F837-A69F-4EB6-8F49-1D9E85F4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383F"/>
                </a:solidFill>
              </a:defRPr>
            </a:defPPr>
            <a:lvl1pPr>
              <a:defRPr sz="1725" b="0">
                <a:solidFill>
                  <a:srgbClr val="20383F"/>
                </a:solidFill>
              </a:defRPr>
            </a:lvl1pPr>
            <a:lvl2pPr>
              <a:defRPr sz="1725" b="0">
                <a:solidFill>
                  <a:srgbClr val="20383F"/>
                </a:solidFill>
              </a:defRPr>
            </a:lvl2pPr>
            <a:lvl3pPr>
              <a:defRPr sz="1725" b="0">
                <a:solidFill>
                  <a:srgbClr val="20383F"/>
                </a:solidFill>
              </a:defRPr>
            </a:lvl3pPr>
            <a:lvl4pPr>
              <a:defRPr sz="1725" b="0">
                <a:solidFill>
                  <a:srgbClr val="20383F"/>
                </a:solidFill>
              </a:defRPr>
            </a:lvl4pPr>
            <a:lvl5pPr>
              <a:defRPr sz="1725" b="0">
                <a:solidFill>
                  <a:srgbClr val="20383F"/>
                </a:solidFill>
              </a:defRPr>
            </a:lvl5pPr>
            <a:lvl6pPr>
              <a:defRPr sz="1725" b="0">
                <a:solidFill>
                  <a:srgbClr val="20383F"/>
                </a:solidFill>
              </a:defRPr>
            </a:lvl6pPr>
            <a:lvl7pPr>
              <a:defRPr sz="1725" b="0">
                <a:solidFill>
                  <a:srgbClr val="20383F"/>
                </a:solidFill>
              </a:defRPr>
            </a:lvl7pPr>
            <a:lvl8pPr>
              <a:defRPr sz="1725" b="0">
                <a:solidFill>
                  <a:srgbClr val="20383F"/>
                </a:solidFill>
              </a:defRPr>
            </a:lvl8pPr>
            <a:lvl9pPr>
              <a:defRPr sz="1725" b="0">
                <a:solidFill>
                  <a:srgbClr val="20383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0383F"/>
                </a:solidFill>
              </a:defRPr>
            </a:pPr>
            <a:r>
              <a:rPr sz="1725" b="0">
                <a:solidFill>
                  <a:srgbClr val="20383F"/>
                </a:solidFill>
              </a:rPr>
              <a:t>One FastAPI process serves the React UI. Consent gates patient routes and streams.</a:t>
            </a:r>
          </a:p>
        </p:txBody>
      </p:sp>
    </p:spTree>
    <p:extLst>
      <p:ext uri="{BB962C8B-B14F-4D97-AF65-F5344CB8AC3E}">
        <p14:creationId xmlns:p14="http://schemas.microsoft.com/office/powerpoint/2010/main" val="6640382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28B0C-2A50-4D4C-ADC3-8C9B9E2F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B3C"/>
                </a:solidFill>
              </a:defRPr>
            </a:defPPr>
            <a:lvl1pPr>
              <a:defRPr sz="3300" b="1">
                <a:solidFill>
                  <a:srgbClr val="123B3C"/>
                </a:solidFill>
              </a:defRPr>
            </a:lvl1pPr>
            <a:lvl2pPr>
              <a:defRPr sz="3300" b="1">
                <a:solidFill>
                  <a:srgbClr val="123B3C"/>
                </a:solidFill>
              </a:defRPr>
            </a:lvl2pPr>
            <a:lvl3pPr>
              <a:defRPr sz="3300" b="1">
                <a:solidFill>
                  <a:srgbClr val="123B3C"/>
                </a:solidFill>
              </a:defRPr>
            </a:lvl3pPr>
            <a:lvl4pPr>
              <a:defRPr sz="3300" b="1">
                <a:solidFill>
                  <a:srgbClr val="123B3C"/>
                </a:solidFill>
              </a:defRPr>
            </a:lvl4pPr>
            <a:lvl5pPr>
              <a:defRPr sz="3300" b="1">
                <a:solidFill>
                  <a:srgbClr val="123B3C"/>
                </a:solidFill>
              </a:defRPr>
            </a:lvl5pPr>
            <a:lvl6pPr>
              <a:defRPr sz="3300" b="1">
                <a:solidFill>
                  <a:srgbClr val="123B3C"/>
                </a:solidFill>
              </a:defRPr>
            </a:lvl6pPr>
            <a:lvl7pPr>
              <a:defRPr sz="3300" b="1">
                <a:solidFill>
                  <a:srgbClr val="123B3C"/>
                </a:solidFill>
              </a:defRPr>
            </a:lvl7pPr>
            <a:lvl8pPr>
              <a:defRPr sz="3300" b="1">
                <a:solidFill>
                  <a:srgbClr val="123B3C"/>
                </a:solidFill>
              </a:defRPr>
            </a:lvl8pPr>
            <a:lvl9pPr>
              <a:defRPr sz="3300" b="1">
                <a:solidFill>
                  <a:srgbClr val="123B3C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B3C"/>
                </a:solidFill>
              </a:defRPr>
            </a:pPr>
            <a:r>
              <a:rPr sz="3300" b="1">
                <a:solidFill>
                  <a:srgbClr val="123B3C"/>
                </a:solidFill>
              </a:rPr>
              <a:t>A transparent reduced-order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0F263-BF14-4791-BFBD-AD9EAC99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B71"/>
                </a:solidFill>
              </a:defRPr>
            </a:defPPr>
            <a:lvl1pPr>
              <a:defRPr sz="1800" b="0">
                <a:solidFill>
                  <a:srgbClr val="526B71"/>
                </a:solidFill>
              </a:defRPr>
            </a:lvl1pPr>
            <a:lvl2pPr>
              <a:defRPr sz="1800" b="0">
                <a:solidFill>
                  <a:srgbClr val="526B71"/>
                </a:solidFill>
              </a:defRPr>
            </a:lvl2pPr>
            <a:lvl3pPr>
              <a:defRPr sz="1800" b="0">
                <a:solidFill>
                  <a:srgbClr val="526B71"/>
                </a:solidFill>
              </a:defRPr>
            </a:lvl3pPr>
            <a:lvl4pPr>
              <a:defRPr sz="1800" b="0">
                <a:solidFill>
                  <a:srgbClr val="526B71"/>
                </a:solidFill>
              </a:defRPr>
            </a:lvl4pPr>
            <a:lvl5pPr>
              <a:defRPr sz="1800" b="0">
                <a:solidFill>
                  <a:srgbClr val="526B71"/>
                </a:solidFill>
              </a:defRPr>
            </a:lvl5pPr>
            <a:lvl6pPr>
              <a:defRPr sz="1800" b="0">
                <a:solidFill>
                  <a:srgbClr val="526B71"/>
                </a:solidFill>
              </a:defRPr>
            </a:lvl6pPr>
            <a:lvl7pPr>
              <a:defRPr sz="1800" b="0">
                <a:solidFill>
                  <a:srgbClr val="526B71"/>
                </a:solidFill>
              </a:defRPr>
            </a:lvl7pPr>
            <a:lvl8pPr>
              <a:defRPr sz="1800" b="0">
                <a:solidFill>
                  <a:srgbClr val="526B71"/>
                </a:solidFill>
              </a:defRPr>
            </a:lvl8pPr>
            <a:lvl9pPr>
              <a:defRPr sz="1800" b="0">
                <a:solidFill>
                  <a:srgbClr val="526B7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B71"/>
                </a:solidFill>
              </a:defRPr>
            </a:pPr>
            <a:r>
              <a:rPr sz="1800" b="0">
                <a:solidFill>
                  <a:srgbClr val="526B71"/>
                </a:solidFill>
              </a:rPr>
              <a:t>Illustrative engineering dynamics with explicit units and bounds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531B5-462E-4190-8617-F0975A84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796C"/>
                </a:solidFill>
              </a:defRPr>
            </a:defPPr>
            <a:lvl1pPr>
              <a:defRPr sz="1875" b="1">
                <a:solidFill>
                  <a:srgbClr val="13796C"/>
                </a:solidFill>
              </a:defRPr>
            </a:lvl1pPr>
            <a:lvl2pPr>
              <a:defRPr sz="1875" b="1">
                <a:solidFill>
                  <a:srgbClr val="13796C"/>
                </a:solidFill>
              </a:defRPr>
            </a:lvl2pPr>
            <a:lvl3pPr>
              <a:defRPr sz="1875" b="1">
                <a:solidFill>
                  <a:srgbClr val="13796C"/>
                </a:solidFill>
              </a:defRPr>
            </a:lvl3pPr>
            <a:lvl4pPr>
              <a:defRPr sz="1875" b="1">
                <a:solidFill>
                  <a:srgbClr val="13796C"/>
                </a:solidFill>
              </a:defRPr>
            </a:lvl4pPr>
            <a:lvl5pPr>
              <a:defRPr sz="1875" b="1">
                <a:solidFill>
                  <a:srgbClr val="13796C"/>
                </a:solidFill>
              </a:defRPr>
            </a:lvl5pPr>
            <a:lvl6pPr>
              <a:defRPr sz="1875" b="1">
                <a:solidFill>
                  <a:srgbClr val="13796C"/>
                </a:solidFill>
              </a:defRPr>
            </a:lvl6pPr>
            <a:lvl7pPr>
              <a:defRPr sz="1875" b="1">
                <a:solidFill>
                  <a:srgbClr val="13796C"/>
                </a:solidFill>
              </a:defRPr>
            </a:lvl7pPr>
            <a:lvl8pPr>
              <a:defRPr sz="1875" b="1">
                <a:solidFill>
                  <a:srgbClr val="13796C"/>
                </a:solidFill>
              </a:defRPr>
            </a:lvl8pPr>
            <a:lvl9pPr>
              <a:defRPr sz="1875" b="1">
                <a:solidFill>
                  <a:srgbClr val="13796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796C"/>
                </a:solidFill>
              </a:defRPr>
            </a:pPr>
            <a:r>
              <a:rPr sz="1875" b="1">
                <a:solidFill>
                  <a:srgbClr val="13796C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786E8-BB97-4848-AF2B-A7C2B137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3F"/>
                </a:solidFill>
              </a:defRPr>
            </a:defPPr>
            <a:lvl1pPr>
              <a:defRPr sz="2100" b="0">
                <a:solidFill>
                  <a:srgbClr val="20383F"/>
                </a:solidFill>
              </a:defRPr>
            </a:lvl1pPr>
            <a:lvl2pPr>
              <a:defRPr sz="2100" b="0">
                <a:solidFill>
                  <a:srgbClr val="20383F"/>
                </a:solidFill>
              </a:defRPr>
            </a:lvl2pPr>
            <a:lvl3pPr>
              <a:defRPr sz="2100" b="0">
                <a:solidFill>
                  <a:srgbClr val="20383F"/>
                </a:solidFill>
              </a:defRPr>
            </a:lvl3pPr>
            <a:lvl4pPr>
              <a:defRPr sz="2100" b="0">
                <a:solidFill>
                  <a:srgbClr val="20383F"/>
                </a:solidFill>
              </a:defRPr>
            </a:lvl4pPr>
            <a:lvl5pPr>
              <a:defRPr sz="2100" b="0">
                <a:solidFill>
                  <a:srgbClr val="20383F"/>
                </a:solidFill>
              </a:defRPr>
            </a:lvl5pPr>
            <a:lvl6pPr>
              <a:defRPr sz="2100" b="0">
                <a:solidFill>
                  <a:srgbClr val="20383F"/>
                </a:solidFill>
              </a:defRPr>
            </a:lvl6pPr>
            <a:lvl7pPr>
              <a:defRPr sz="2100" b="0">
                <a:solidFill>
                  <a:srgbClr val="20383F"/>
                </a:solidFill>
              </a:defRPr>
            </a:lvl7pPr>
            <a:lvl8pPr>
              <a:defRPr sz="2100" b="0">
                <a:solidFill>
                  <a:srgbClr val="20383F"/>
                </a:solidFill>
              </a:defRPr>
            </a:lvl8pPr>
            <a:lvl9pPr>
              <a:defRPr sz="2100" b="0">
                <a:solidFill>
                  <a:srgbClr val="20383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3F"/>
                </a:solidFill>
              </a:defRPr>
            </a:pPr>
            <a:r>
              <a:rPr sz="2100" b="0">
                <a:solidFill>
                  <a:srgbClr val="20383F"/>
                </a:solidFill>
              </a:rPr>
              <a:t>Logged carbohydrate decays through a first-order proxy compartment.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AA4AC-A8F4-4933-9351-5C051EBA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796C"/>
                </a:solidFill>
              </a:defRPr>
            </a:defPPr>
            <a:lvl1pPr>
              <a:defRPr sz="1875" b="1">
                <a:solidFill>
                  <a:srgbClr val="13796C"/>
                </a:solidFill>
              </a:defRPr>
            </a:lvl1pPr>
            <a:lvl2pPr>
              <a:defRPr sz="1875" b="1">
                <a:solidFill>
                  <a:srgbClr val="13796C"/>
                </a:solidFill>
              </a:defRPr>
            </a:lvl2pPr>
            <a:lvl3pPr>
              <a:defRPr sz="1875" b="1">
                <a:solidFill>
                  <a:srgbClr val="13796C"/>
                </a:solidFill>
              </a:defRPr>
            </a:lvl3pPr>
            <a:lvl4pPr>
              <a:defRPr sz="1875" b="1">
                <a:solidFill>
                  <a:srgbClr val="13796C"/>
                </a:solidFill>
              </a:defRPr>
            </a:lvl4pPr>
            <a:lvl5pPr>
              <a:defRPr sz="1875" b="1">
                <a:solidFill>
                  <a:srgbClr val="13796C"/>
                </a:solidFill>
              </a:defRPr>
            </a:lvl5pPr>
            <a:lvl6pPr>
              <a:defRPr sz="1875" b="1">
                <a:solidFill>
                  <a:srgbClr val="13796C"/>
                </a:solidFill>
              </a:defRPr>
            </a:lvl6pPr>
            <a:lvl7pPr>
              <a:defRPr sz="1875" b="1">
                <a:solidFill>
                  <a:srgbClr val="13796C"/>
                </a:solidFill>
              </a:defRPr>
            </a:lvl7pPr>
            <a:lvl8pPr>
              <a:defRPr sz="1875" b="1">
                <a:solidFill>
                  <a:srgbClr val="13796C"/>
                </a:solidFill>
              </a:defRPr>
            </a:lvl8pPr>
            <a:lvl9pPr>
              <a:defRPr sz="1875" b="1">
                <a:solidFill>
                  <a:srgbClr val="13796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796C"/>
                </a:solidFill>
              </a:defRPr>
            </a:pPr>
            <a:r>
              <a:rPr sz="1875" b="1">
                <a:solidFill>
                  <a:srgbClr val="13796C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50DAE-7ACA-4AD9-9418-CAA1D195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3F"/>
                </a:solidFill>
              </a:defRPr>
            </a:defPPr>
            <a:lvl1pPr>
              <a:defRPr sz="2100" b="0">
                <a:solidFill>
                  <a:srgbClr val="20383F"/>
                </a:solidFill>
              </a:defRPr>
            </a:lvl1pPr>
            <a:lvl2pPr>
              <a:defRPr sz="2100" b="0">
                <a:solidFill>
                  <a:srgbClr val="20383F"/>
                </a:solidFill>
              </a:defRPr>
            </a:lvl2pPr>
            <a:lvl3pPr>
              <a:defRPr sz="2100" b="0">
                <a:solidFill>
                  <a:srgbClr val="20383F"/>
                </a:solidFill>
              </a:defRPr>
            </a:lvl3pPr>
            <a:lvl4pPr>
              <a:defRPr sz="2100" b="0">
                <a:solidFill>
                  <a:srgbClr val="20383F"/>
                </a:solidFill>
              </a:defRPr>
            </a:lvl4pPr>
            <a:lvl5pPr>
              <a:defRPr sz="2100" b="0">
                <a:solidFill>
                  <a:srgbClr val="20383F"/>
                </a:solidFill>
              </a:defRPr>
            </a:lvl5pPr>
            <a:lvl6pPr>
              <a:defRPr sz="2100" b="0">
                <a:solidFill>
                  <a:srgbClr val="20383F"/>
                </a:solidFill>
              </a:defRPr>
            </a:lvl6pPr>
            <a:lvl7pPr>
              <a:defRPr sz="2100" b="0">
                <a:solidFill>
                  <a:srgbClr val="20383F"/>
                </a:solidFill>
              </a:defRPr>
            </a:lvl7pPr>
            <a:lvl8pPr>
              <a:defRPr sz="2100" b="0">
                <a:solidFill>
                  <a:srgbClr val="20383F"/>
                </a:solidFill>
              </a:defRPr>
            </a:lvl8pPr>
            <a:lvl9pPr>
              <a:defRPr sz="2100" b="0">
                <a:solidFill>
                  <a:srgbClr val="20383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3F"/>
                </a:solidFill>
              </a:defRPr>
            </a:pPr>
            <a:r>
              <a:rPr sz="2100" b="0">
                <a:solidFill>
                  <a:srgbClr val="20383F"/>
                </a:solidFill>
              </a:rPr>
              <a:t>Glucose relaxes toward the EHR-derived, causally updated baseline.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5384A-C601-4771-8AF8-F6FE2CED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796C"/>
                </a:solidFill>
              </a:defRPr>
            </a:defPPr>
            <a:lvl1pPr>
              <a:defRPr sz="1875" b="1">
                <a:solidFill>
                  <a:srgbClr val="13796C"/>
                </a:solidFill>
              </a:defRPr>
            </a:lvl1pPr>
            <a:lvl2pPr>
              <a:defRPr sz="1875" b="1">
                <a:solidFill>
                  <a:srgbClr val="13796C"/>
                </a:solidFill>
              </a:defRPr>
            </a:lvl2pPr>
            <a:lvl3pPr>
              <a:defRPr sz="1875" b="1">
                <a:solidFill>
                  <a:srgbClr val="13796C"/>
                </a:solidFill>
              </a:defRPr>
            </a:lvl3pPr>
            <a:lvl4pPr>
              <a:defRPr sz="1875" b="1">
                <a:solidFill>
                  <a:srgbClr val="13796C"/>
                </a:solidFill>
              </a:defRPr>
            </a:lvl4pPr>
            <a:lvl5pPr>
              <a:defRPr sz="1875" b="1">
                <a:solidFill>
                  <a:srgbClr val="13796C"/>
                </a:solidFill>
              </a:defRPr>
            </a:lvl5pPr>
            <a:lvl6pPr>
              <a:defRPr sz="1875" b="1">
                <a:solidFill>
                  <a:srgbClr val="13796C"/>
                </a:solidFill>
              </a:defRPr>
            </a:lvl6pPr>
            <a:lvl7pPr>
              <a:defRPr sz="1875" b="1">
                <a:solidFill>
                  <a:srgbClr val="13796C"/>
                </a:solidFill>
              </a:defRPr>
            </a:lvl7pPr>
            <a:lvl8pPr>
              <a:defRPr sz="1875" b="1">
                <a:solidFill>
                  <a:srgbClr val="13796C"/>
                </a:solidFill>
              </a:defRPr>
            </a:lvl8pPr>
            <a:lvl9pPr>
              <a:defRPr sz="1875" b="1">
                <a:solidFill>
                  <a:srgbClr val="13796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796C"/>
                </a:solidFill>
              </a:defRPr>
            </a:pPr>
            <a:r>
              <a:rPr sz="1875" b="1">
                <a:solidFill>
                  <a:srgbClr val="13796C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33266-0799-4A7C-B3F4-1FAF7D0D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3F"/>
                </a:solidFill>
              </a:defRPr>
            </a:defPPr>
            <a:lvl1pPr>
              <a:defRPr sz="2100" b="0">
                <a:solidFill>
                  <a:srgbClr val="20383F"/>
                </a:solidFill>
              </a:defRPr>
            </a:lvl1pPr>
            <a:lvl2pPr>
              <a:defRPr sz="2100" b="0">
                <a:solidFill>
                  <a:srgbClr val="20383F"/>
                </a:solidFill>
              </a:defRPr>
            </a:lvl2pPr>
            <a:lvl3pPr>
              <a:defRPr sz="2100" b="0">
                <a:solidFill>
                  <a:srgbClr val="20383F"/>
                </a:solidFill>
              </a:defRPr>
            </a:lvl3pPr>
            <a:lvl4pPr>
              <a:defRPr sz="2100" b="0">
                <a:solidFill>
                  <a:srgbClr val="20383F"/>
                </a:solidFill>
              </a:defRPr>
            </a:lvl4pPr>
            <a:lvl5pPr>
              <a:defRPr sz="2100" b="0">
                <a:solidFill>
                  <a:srgbClr val="20383F"/>
                </a:solidFill>
              </a:defRPr>
            </a:lvl5pPr>
            <a:lvl6pPr>
              <a:defRPr sz="2100" b="0">
                <a:solidFill>
                  <a:srgbClr val="20383F"/>
                </a:solidFill>
              </a:defRPr>
            </a:lvl6pPr>
            <a:lvl7pPr>
              <a:defRPr sz="2100" b="0">
                <a:solidFill>
                  <a:srgbClr val="20383F"/>
                </a:solidFill>
              </a:defRPr>
            </a:lvl7pPr>
            <a:lvl8pPr>
              <a:defRPr sz="2100" b="0">
                <a:solidFill>
                  <a:srgbClr val="20383F"/>
                </a:solidFill>
              </a:defRPr>
            </a:lvl8pPr>
            <a:lvl9pPr>
              <a:defRPr sz="2100" b="0">
                <a:solidFill>
                  <a:srgbClr val="20383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3F"/>
                </a:solidFill>
              </a:defRPr>
            </a:pPr>
            <a:r>
              <a:rPr sz="2100" b="0">
                <a:solidFill>
                  <a:srgbClr val="20383F"/>
                </a:solidFill>
              </a:rPr>
              <a:t>Each observation updates the state. No insulin or drug-response model is claimed.</a:t>
            </a:r>
          </a:p>
        </p:txBody>
      </p:sp>
    </p:spTree>
    <p:extLst>
      <p:ext uri="{BB962C8B-B14F-4D97-AF65-F5344CB8AC3E}">
        <p14:creationId xmlns:p14="http://schemas.microsoft.com/office/powerpoint/2010/main" val="18799736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8FBD3-5EFB-4AE5-91DF-34A07AA0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B3C"/>
                </a:solidFill>
              </a:defRPr>
            </a:defPPr>
            <a:lvl1pPr>
              <a:defRPr sz="3300" b="1">
                <a:solidFill>
                  <a:srgbClr val="123B3C"/>
                </a:solidFill>
              </a:defRPr>
            </a:lvl1pPr>
            <a:lvl2pPr>
              <a:defRPr sz="3300" b="1">
                <a:solidFill>
                  <a:srgbClr val="123B3C"/>
                </a:solidFill>
              </a:defRPr>
            </a:lvl2pPr>
            <a:lvl3pPr>
              <a:defRPr sz="3300" b="1">
                <a:solidFill>
                  <a:srgbClr val="123B3C"/>
                </a:solidFill>
              </a:defRPr>
            </a:lvl3pPr>
            <a:lvl4pPr>
              <a:defRPr sz="3300" b="1">
                <a:solidFill>
                  <a:srgbClr val="123B3C"/>
                </a:solidFill>
              </a:defRPr>
            </a:lvl4pPr>
            <a:lvl5pPr>
              <a:defRPr sz="3300" b="1">
                <a:solidFill>
                  <a:srgbClr val="123B3C"/>
                </a:solidFill>
              </a:defRPr>
            </a:lvl5pPr>
            <a:lvl6pPr>
              <a:defRPr sz="3300" b="1">
                <a:solidFill>
                  <a:srgbClr val="123B3C"/>
                </a:solidFill>
              </a:defRPr>
            </a:lvl6pPr>
            <a:lvl7pPr>
              <a:defRPr sz="3300" b="1">
                <a:solidFill>
                  <a:srgbClr val="123B3C"/>
                </a:solidFill>
              </a:defRPr>
            </a:lvl7pPr>
            <a:lvl8pPr>
              <a:defRPr sz="3300" b="1">
                <a:solidFill>
                  <a:srgbClr val="123B3C"/>
                </a:solidFill>
              </a:defRPr>
            </a:lvl8pPr>
            <a:lvl9pPr>
              <a:defRPr sz="3300" b="1">
                <a:solidFill>
                  <a:srgbClr val="123B3C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B3C"/>
                </a:solidFill>
              </a:defRPr>
            </a:pPr>
            <a:r>
              <a:rPr sz="3300" b="1">
                <a:solidFill>
                  <a:srgbClr val="123B3C"/>
                </a:solidFill>
              </a:rPr>
              <a:t>The working control room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D766A-D73D-4545-B10A-1E67B844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B71"/>
                </a:solidFill>
              </a:defRPr>
            </a:defPPr>
            <a:lvl1pPr>
              <a:defRPr sz="1800" b="0">
                <a:solidFill>
                  <a:srgbClr val="526B71"/>
                </a:solidFill>
              </a:defRPr>
            </a:lvl1pPr>
            <a:lvl2pPr>
              <a:defRPr sz="1800" b="0">
                <a:solidFill>
                  <a:srgbClr val="526B71"/>
                </a:solidFill>
              </a:defRPr>
            </a:lvl2pPr>
            <a:lvl3pPr>
              <a:defRPr sz="1800" b="0">
                <a:solidFill>
                  <a:srgbClr val="526B71"/>
                </a:solidFill>
              </a:defRPr>
            </a:lvl3pPr>
            <a:lvl4pPr>
              <a:defRPr sz="1800" b="0">
                <a:solidFill>
                  <a:srgbClr val="526B71"/>
                </a:solidFill>
              </a:defRPr>
            </a:lvl4pPr>
            <a:lvl5pPr>
              <a:defRPr sz="1800" b="0">
                <a:solidFill>
                  <a:srgbClr val="526B71"/>
                </a:solidFill>
              </a:defRPr>
            </a:lvl5pPr>
            <a:lvl6pPr>
              <a:defRPr sz="1800" b="0">
                <a:solidFill>
                  <a:srgbClr val="526B71"/>
                </a:solidFill>
              </a:defRPr>
            </a:lvl6pPr>
            <a:lvl7pPr>
              <a:defRPr sz="1800" b="0">
                <a:solidFill>
                  <a:srgbClr val="526B71"/>
                </a:solidFill>
              </a:defRPr>
            </a:lvl7pPr>
            <a:lvl8pPr>
              <a:defRPr sz="1800" b="0">
                <a:solidFill>
                  <a:srgbClr val="526B71"/>
                </a:solidFill>
              </a:defRPr>
            </a:lvl8pPr>
            <a:lvl9pPr>
              <a:defRPr sz="1800" b="0">
                <a:solidFill>
                  <a:srgbClr val="526B7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B71"/>
                </a:solidFill>
              </a:defRPr>
            </a:pPr>
            <a:r>
              <a:rPr sz="1800" b="0">
                <a:solidFill>
                  <a:srgbClr val="526B71"/>
                </a:solidFill>
              </a:rPr>
              <a:t>Replay, inspect and compare from a consistent synthetic patient state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C81AE-3676-4646-870C-001094461E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3847966ad43be"/>
          <a:stretch xmlns:a="http://schemas.openxmlformats.org/drawingml/2006/main"/>
        </p:blipFill>
        <p:spPr>
          <a:xfrm xmlns:a="http://schemas.openxmlformats.org/drawingml/2006/main">
            <a:off x="2549052" y="2238375"/>
            <a:ext cx="2788596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B6AA2-2144-454C-841A-89BD6CBF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3810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383F"/>
                </a:solidFill>
              </a:defRPr>
            </a:defPPr>
            <a:lvl1pPr>
              <a:defRPr sz="1950" b="0">
                <a:solidFill>
                  <a:srgbClr val="20383F"/>
                </a:solidFill>
              </a:defRPr>
            </a:lvl1pPr>
            <a:lvl2pPr>
              <a:defRPr sz="1950" b="0">
                <a:solidFill>
                  <a:srgbClr val="20383F"/>
                </a:solidFill>
              </a:defRPr>
            </a:lvl2pPr>
            <a:lvl3pPr>
              <a:defRPr sz="1950" b="0">
                <a:solidFill>
                  <a:srgbClr val="20383F"/>
                </a:solidFill>
              </a:defRPr>
            </a:lvl3pPr>
            <a:lvl4pPr>
              <a:defRPr sz="1950" b="0">
                <a:solidFill>
                  <a:srgbClr val="20383F"/>
                </a:solidFill>
              </a:defRPr>
            </a:lvl4pPr>
            <a:lvl5pPr>
              <a:defRPr sz="1950" b="0">
                <a:solidFill>
                  <a:srgbClr val="20383F"/>
                </a:solidFill>
              </a:defRPr>
            </a:lvl5pPr>
            <a:lvl6pPr>
              <a:defRPr sz="1950" b="0">
                <a:solidFill>
                  <a:srgbClr val="20383F"/>
                </a:solidFill>
              </a:defRPr>
            </a:lvl6pPr>
            <a:lvl7pPr>
              <a:defRPr sz="1950" b="0">
                <a:solidFill>
                  <a:srgbClr val="20383F"/>
                </a:solidFill>
              </a:defRPr>
            </a:lvl7pPr>
            <a:lvl8pPr>
              <a:defRPr sz="1950" b="0">
                <a:solidFill>
                  <a:srgbClr val="20383F"/>
                </a:solidFill>
              </a:defRPr>
            </a:lvl8pPr>
            <a:lvl9pPr>
              <a:defRPr sz="1950" b="0">
                <a:solidFill>
                  <a:srgbClr val="20383F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383F"/>
                </a:solidFill>
              </a:defRPr>
            </a:pPr>
            <a:r>
              <a:rPr sz="1950" b="0">
                <a:solidFill>
                  <a:srgbClr val="20383F"/>
                </a:solidFill>
              </a:rPr>
              <a:t>Start / pause / speed / seek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383F"/>
                </a:solidFill>
              </a:defRPr>
            </a:pPr>
            <a:r>
              <a:rPr sz="1950" b="0">
                <a:solidFill>
                  <a:srgbClr val="20383F"/>
                </a:solidFill>
              </a:rPr>
              <a:t>FHIR inspection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383F"/>
                </a:solidFill>
              </a:defRPr>
            </a:pPr>
            <a:r>
              <a:rPr sz="1950" b="0">
                <a:solidFill>
                  <a:srgbClr val="20383F"/>
                </a:solidFill>
              </a:rPr>
              <a:t>Bounded meal + activity scenarios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383F"/>
                </a:solidFill>
              </a:defRPr>
            </a:pPr>
            <a:r>
              <a:rPr sz="1950" b="0">
                <a:solidFill>
                  <a:srgbClr val="20383F"/>
                </a:solidFill>
              </a:rPr>
              <a:t>Visible source and uncertainty limits</a:t>
            </a:r>
          </a:p>
        </p:txBody>
      </p:sp>
    </p:spTree>
    <p:extLst>
      <p:ext uri="{BB962C8B-B14F-4D97-AF65-F5344CB8AC3E}">
        <p14:creationId xmlns:p14="http://schemas.microsoft.com/office/powerpoint/2010/main" val="14441351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D0D85-C11D-4E3E-A046-07B232BE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B3C"/>
                </a:solidFill>
              </a:defRPr>
            </a:defPPr>
            <a:lvl1pPr>
              <a:defRPr sz="3300" b="1">
                <a:solidFill>
                  <a:srgbClr val="123B3C"/>
                </a:solidFill>
              </a:defRPr>
            </a:lvl1pPr>
            <a:lvl2pPr>
              <a:defRPr sz="3300" b="1">
                <a:solidFill>
                  <a:srgbClr val="123B3C"/>
                </a:solidFill>
              </a:defRPr>
            </a:lvl2pPr>
            <a:lvl3pPr>
              <a:defRPr sz="3300" b="1">
                <a:solidFill>
                  <a:srgbClr val="123B3C"/>
                </a:solidFill>
              </a:defRPr>
            </a:lvl3pPr>
            <a:lvl4pPr>
              <a:defRPr sz="3300" b="1">
                <a:solidFill>
                  <a:srgbClr val="123B3C"/>
                </a:solidFill>
              </a:defRPr>
            </a:lvl4pPr>
            <a:lvl5pPr>
              <a:defRPr sz="3300" b="1">
                <a:solidFill>
                  <a:srgbClr val="123B3C"/>
                </a:solidFill>
              </a:defRPr>
            </a:lvl5pPr>
            <a:lvl6pPr>
              <a:defRPr sz="3300" b="1">
                <a:solidFill>
                  <a:srgbClr val="123B3C"/>
                </a:solidFill>
              </a:defRPr>
            </a:lvl6pPr>
            <a:lvl7pPr>
              <a:defRPr sz="3300" b="1">
                <a:solidFill>
                  <a:srgbClr val="123B3C"/>
                </a:solidFill>
              </a:defRPr>
            </a:lvl7pPr>
            <a:lvl8pPr>
              <a:defRPr sz="3300" b="1">
                <a:solidFill>
                  <a:srgbClr val="123B3C"/>
                </a:solidFill>
              </a:defRPr>
            </a:lvl8pPr>
            <a:lvl9pPr>
              <a:defRPr sz="3300" b="1">
                <a:solidFill>
                  <a:srgbClr val="123B3C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B3C"/>
                </a:solidFill>
              </a:defRPr>
            </a:pPr>
            <a:r>
              <a:rPr sz="3300" b="1">
                <a:solidFill>
                  <a:srgbClr val="123B3C"/>
                </a:solidFill>
              </a:rPr>
              <a:t>Evaluation prevents future leakage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A088D-B068-4E97-B0FB-6EB699E0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B71"/>
                </a:solidFill>
              </a:defRPr>
            </a:defPPr>
            <a:lvl1pPr>
              <a:defRPr sz="1800" b="0">
                <a:solidFill>
                  <a:srgbClr val="526B71"/>
                </a:solidFill>
              </a:defRPr>
            </a:lvl1pPr>
            <a:lvl2pPr>
              <a:defRPr sz="1800" b="0">
                <a:solidFill>
                  <a:srgbClr val="526B71"/>
                </a:solidFill>
              </a:defRPr>
            </a:lvl2pPr>
            <a:lvl3pPr>
              <a:defRPr sz="1800" b="0">
                <a:solidFill>
                  <a:srgbClr val="526B71"/>
                </a:solidFill>
              </a:defRPr>
            </a:lvl3pPr>
            <a:lvl4pPr>
              <a:defRPr sz="1800" b="0">
                <a:solidFill>
                  <a:srgbClr val="526B71"/>
                </a:solidFill>
              </a:defRPr>
            </a:lvl4pPr>
            <a:lvl5pPr>
              <a:defRPr sz="1800" b="0">
                <a:solidFill>
                  <a:srgbClr val="526B71"/>
                </a:solidFill>
              </a:defRPr>
            </a:lvl5pPr>
            <a:lvl6pPr>
              <a:defRPr sz="1800" b="0">
                <a:solidFill>
                  <a:srgbClr val="526B71"/>
                </a:solidFill>
              </a:defRPr>
            </a:lvl6pPr>
            <a:lvl7pPr>
              <a:defRPr sz="1800" b="0">
                <a:solidFill>
                  <a:srgbClr val="526B71"/>
                </a:solidFill>
              </a:defRPr>
            </a:lvl7pPr>
            <a:lvl8pPr>
              <a:defRPr sz="1800" b="0">
                <a:solidFill>
                  <a:srgbClr val="526B71"/>
                </a:solidFill>
              </a:defRPr>
            </a:lvl8pPr>
            <a:lvl9pPr>
              <a:defRPr sz="1800" b="0">
                <a:solidFill>
                  <a:srgbClr val="526B7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B71"/>
                </a:solidFill>
              </a:defRPr>
            </a:pPr>
            <a:r>
              <a:rPr sz="1800" b="0">
                <a:solidFill>
                  <a:srgbClr val="526B71"/>
                </a:solidFill>
              </a:rPr>
              <a:t>Within-patient chronological splits with a two-hour purge at each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C6ADB-DD00-490B-8779-C2ECDD1F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796C"/>
                </a:solidFill>
              </a:defRPr>
            </a:defPPr>
            <a:lvl1pPr>
              <a:defRPr sz="1875" b="1">
                <a:solidFill>
                  <a:srgbClr val="13796C"/>
                </a:solidFill>
              </a:defRPr>
            </a:lvl1pPr>
            <a:lvl2pPr>
              <a:defRPr sz="1875" b="1">
                <a:solidFill>
                  <a:srgbClr val="13796C"/>
                </a:solidFill>
              </a:defRPr>
            </a:lvl2pPr>
            <a:lvl3pPr>
              <a:defRPr sz="1875" b="1">
                <a:solidFill>
                  <a:srgbClr val="13796C"/>
                </a:solidFill>
              </a:defRPr>
            </a:lvl3pPr>
            <a:lvl4pPr>
              <a:defRPr sz="1875" b="1">
                <a:solidFill>
                  <a:srgbClr val="13796C"/>
                </a:solidFill>
              </a:defRPr>
            </a:lvl4pPr>
            <a:lvl5pPr>
              <a:defRPr sz="1875" b="1">
                <a:solidFill>
                  <a:srgbClr val="13796C"/>
                </a:solidFill>
              </a:defRPr>
            </a:lvl5pPr>
            <a:lvl6pPr>
              <a:defRPr sz="1875" b="1">
                <a:solidFill>
                  <a:srgbClr val="13796C"/>
                </a:solidFill>
              </a:defRPr>
            </a:lvl6pPr>
            <a:lvl7pPr>
              <a:defRPr sz="1875" b="1">
                <a:solidFill>
                  <a:srgbClr val="13796C"/>
                </a:solidFill>
              </a:defRPr>
            </a:lvl7pPr>
            <a:lvl8pPr>
              <a:defRPr sz="1875" b="1">
                <a:solidFill>
                  <a:srgbClr val="13796C"/>
                </a:solidFill>
              </a:defRPr>
            </a:lvl8pPr>
            <a:lvl9pPr>
              <a:defRPr sz="1875" b="1">
                <a:solidFill>
                  <a:srgbClr val="13796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796C"/>
                </a:solidFill>
              </a:defRPr>
            </a:pPr>
            <a:r>
              <a:rPr sz="1875" b="1">
                <a:solidFill>
                  <a:srgbClr val="13796C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1FCDD-68F3-45DC-9CFA-F77CA709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3F"/>
                </a:solidFill>
              </a:defRPr>
            </a:defPPr>
            <a:lvl1pPr>
              <a:defRPr sz="2100" b="0">
                <a:solidFill>
                  <a:srgbClr val="20383F"/>
                </a:solidFill>
              </a:defRPr>
            </a:lvl1pPr>
            <a:lvl2pPr>
              <a:defRPr sz="2100" b="0">
                <a:solidFill>
                  <a:srgbClr val="20383F"/>
                </a:solidFill>
              </a:defRPr>
            </a:lvl2pPr>
            <a:lvl3pPr>
              <a:defRPr sz="2100" b="0">
                <a:solidFill>
                  <a:srgbClr val="20383F"/>
                </a:solidFill>
              </a:defRPr>
            </a:lvl3pPr>
            <a:lvl4pPr>
              <a:defRPr sz="2100" b="0">
                <a:solidFill>
                  <a:srgbClr val="20383F"/>
                </a:solidFill>
              </a:defRPr>
            </a:lvl4pPr>
            <a:lvl5pPr>
              <a:defRPr sz="2100" b="0">
                <a:solidFill>
                  <a:srgbClr val="20383F"/>
                </a:solidFill>
              </a:defRPr>
            </a:lvl5pPr>
            <a:lvl6pPr>
              <a:defRPr sz="2100" b="0">
                <a:solidFill>
                  <a:srgbClr val="20383F"/>
                </a:solidFill>
              </a:defRPr>
            </a:lvl6pPr>
            <a:lvl7pPr>
              <a:defRPr sz="2100" b="0">
                <a:solidFill>
                  <a:srgbClr val="20383F"/>
                </a:solidFill>
              </a:defRPr>
            </a:lvl7pPr>
            <a:lvl8pPr>
              <a:defRPr sz="2100" b="0">
                <a:solidFill>
                  <a:srgbClr val="20383F"/>
                </a:solidFill>
              </a:defRPr>
            </a:lvl8pPr>
            <a:lvl9pPr>
              <a:defRPr sz="2100" b="0">
                <a:solidFill>
                  <a:srgbClr val="20383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3F"/>
                </a:solidFill>
              </a:defRPr>
            </a:pPr>
            <a:r>
              <a:rPr sz="2100" b="0">
                <a:solidFill>
                  <a:srgbClr val="20383F"/>
                </a:solidFill>
              </a:rPr>
              <a:t>Training 60%, reserved validation 20%, final test 20%.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F5592-038C-4C84-AC0A-C317AF44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796C"/>
                </a:solidFill>
              </a:defRPr>
            </a:defPPr>
            <a:lvl1pPr>
              <a:defRPr sz="1875" b="1">
                <a:solidFill>
                  <a:srgbClr val="13796C"/>
                </a:solidFill>
              </a:defRPr>
            </a:lvl1pPr>
            <a:lvl2pPr>
              <a:defRPr sz="1875" b="1">
                <a:solidFill>
                  <a:srgbClr val="13796C"/>
                </a:solidFill>
              </a:defRPr>
            </a:lvl2pPr>
            <a:lvl3pPr>
              <a:defRPr sz="1875" b="1">
                <a:solidFill>
                  <a:srgbClr val="13796C"/>
                </a:solidFill>
              </a:defRPr>
            </a:lvl3pPr>
            <a:lvl4pPr>
              <a:defRPr sz="1875" b="1">
                <a:solidFill>
                  <a:srgbClr val="13796C"/>
                </a:solidFill>
              </a:defRPr>
            </a:lvl4pPr>
            <a:lvl5pPr>
              <a:defRPr sz="1875" b="1">
                <a:solidFill>
                  <a:srgbClr val="13796C"/>
                </a:solidFill>
              </a:defRPr>
            </a:lvl5pPr>
            <a:lvl6pPr>
              <a:defRPr sz="1875" b="1">
                <a:solidFill>
                  <a:srgbClr val="13796C"/>
                </a:solidFill>
              </a:defRPr>
            </a:lvl6pPr>
            <a:lvl7pPr>
              <a:defRPr sz="1875" b="1">
                <a:solidFill>
                  <a:srgbClr val="13796C"/>
                </a:solidFill>
              </a:defRPr>
            </a:lvl7pPr>
            <a:lvl8pPr>
              <a:defRPr sz="1875" b="1">
                <a:solidFill>
                  <a:srgbClr val="13796C"/>
                </a:solidFill>
              </a:defRPr>
            </a:lvl8pPr>
            <a:lvl9pPr>
              <a:defRPr sz="1875" b="1">
                <a:solidFill>
                  <a:srgbClr val="13796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796C"/>
                </a:solidFill>
              </a:defRPr>
            </a:pPr>
            <a:r>
              <a:rPr sz="1875" b="1">
                <a:solidFill>
                  <a:srgbClr val="13796C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DD4FE-D6B0-439C-BF2A-92F3AA3C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3F"/>
                </a:solidFill>
              </a:defRPr>
            </a:defPPr>
            <a:lvl1pPr>
              <a:defRPr sz="2100" b="0">
                <a:solidFill>
                  <a:srgbClr val="20383F"/>
                </a:solidFill>
              </a:defRPr>
            </a:lvl1pPr>
            <a:lvl2pPr>
              <a:defRPr sz="2100" b="0">
                <a:solidFill>
                  <a:srgbClr val="20383F"/>
                </a:solidFill>
              </a:defRPr>
            </a:lvl2pPr>
            <a:lvl3pPr>
              <a:defRPr sz="2100" b="0">
                <a:solidFill>
                  <a:srgbClr val="20383F"/>
                </a:solidFill>
              </a:defRPr>
            </a:lvl3pPr>
            <a:lvl4pPr>
              <a:defRPr sz="2100" b="0">
                <a:solidFill>
                  <a:srgbClr val="20383F"/>
                </a:solidFill>
              </a:defRPr>
            </a:lvl4pPr>
            <a:lvl5pPr>
              <a:defRPr sz="2100" b="0">
                <a:solidFill>
                  <a:srgbClr val="20383F"/>
                </a:solidFill>
              </a:defRPr>
            </a:lvl5pPr>
            <a:lvl6pPr>
              <a:defRPr sz="2100" b="0">
                <a:solidFill>
                  <a:srgbClr val="20383F"/>
                </a:solidFill>
              </a:defRPr>
            </a:lvl6pPr>
            <a:lvl7pPr>
              <a:defRPr sz="2100" b="0">
                <a:solidFill>
                  <a:srgbClr val="20383F"/>
                </a:solidFill>
              </a:defRPr>
            </a:lvl7pPr>
            <a:lvl8pPr>
              <a:defRPr sz="2100" b="0">
                <a:solidFill>
                  <a:srgbClr val="20383F"/>
                </a:solidFill>
              </a:defRPr>
            </a:lvl8pPr>
            <a:lvl9pPr>
              <a:defRPr sz="2100" b="0">
                <a:solidFill>
                  <a:srgbClr val="20383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3F"/>
                </a:solidFill>
              </a:defRPr>
            </a:pPr>
            <a:r>
              <a:rPr sz="2100" b="0">
                <a:solidFill>
                  <a:srgbClr val="20383F"/>
                </a:solidFill>
              </a:rPr>
              <a:t>Fit ridge preprocessing and regression on training rows only.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F3993-2511-445C-9573-06203241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796C"/>
                </a:solidFill>
              </a:defRPr>
            </a:defPPr>
            <a:lvl1pPr>
              <a:defRPr sz="1875" b="1">
                <a:solidFill>
                  <a:srgbClr val="13796C"/>
                </a:solidFill>
              </a:defRPr>
            </a:lvl1pPr>
            <a:lvl2pPr>
              <a:defRPr sz="1875" b="1">
                <a:solidFill>
                  <a:srgbClr val="13796C"/>
                </a:solidFill>
              </a:defRPr>
            </a:lvl2pPr>
            <a:lvl3pPr>
              <a:defRPr sz="1875" b="1">
                <a:solidFill>
                  <a:srgbClr val="13796C"/>
                </a:solidFill>
              </a:defRPr>
            </a:lvl3pPr>
            <a:lvl4pPr>
              <a:defRPr sz="1875" b="1">
                <a:solidFill>
                  <a:srgbClr val="13796C"/>
                </a:solidFill>
              </a:defRPr>
            </a:lvl4pPr>
            <a:lvl5pPr>
              <a:defRPr sz="1875" b="1">
                <a:solidFill>
                  <a:srgbClr val="13796C"/>
                </a:solidFill>
              </a:defRPr>
            </a:lvl5pPr>
            <a:lvl6pPr>
              <a:defRPr sz="1875" b="1">
                <a:solidFill>
                  <a:srgbClr val="13796C"/>
                </a:solidFill>
              </a:defRPr>
            </a:lvl6pPr>
            <a:lvl7pPr>
              <a:defRPr sz="1875" b="1">
                <a:solidFill>
                  <a:srgbClr val="13796C"/>
                </a:solidFill>
              </a:defRPr>
            </a:lvl7pPr>
            <a:lvl8pPr>
              <a:defRPr sz="1875" b="1">
                <a:solidFill>
                  <a:srgbClr val="13796C"/>
                </a:solidFill>
              </a:defRPr>
            </a:lvl8pPr>
            <a:lvl9pPr>
              <a:defRPr sz="1875" b="1">
                <a:solidFill>
                  <a:srgbClr val="13796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796C"/>
                </a:solidFill>
              </a:defRPr>
            </a:pPr>
            <a:r>
              <a:rPr sz="1875" b="1">
                <a:solidFill>
                  <a:srgbClr val="13796C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C2348-FCB5-45BD-9C95-9DA54FDD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3F"/>
                </a:solidFill>
              </a:defRPr>
            </a:defPPr>
            <a:lvl1pPr>
              <a:defRPr sz="2100" b="0">
                <a:solidFill>
                  <a:srgbClr val="20383F"/>
                </a:solidFill>
              </a:defRPr>
            </a:lvl1pPr>
            <a:lvl2pPr>
              <a:defRPr sz="2100" b="0">
                <a:solidFill>
                  <a:srgbClr val="20383F"/>
                </a:solidFill>
              </a:defRPr>
            </a:lvl2pPr>
            <a:lvl3pPr>
              <a:defRPr sz="2100" b="0">
                <a:solidFill>
                  <a:srgbClr val="20383F"/>
                </a:solidFill>
              </a:defRPr>
            </a:lvl3pPr>
            <a:lvl4pPr>
              <a:defRPr sz="2100" b="0">
                <a:solidFill>
                  <a:srgbClr val="20383F"/>
                </a:solidFill>
              </a:defRPr>
            </a:lvl4pPr>
            <a:lvl5pPr>
              <a:defRPr sz="2100" b="0">
                <a:solidFill>
                  <a:srgbClr val="20383F"/>
                </a:solidFill>
              </a:defRPr>
            </a:lvl5pPr>
            <a:lvl6pPr>
              <a:defRPr sz="2100" b="0">
                <a:solidFill>
                  <a:srgbClr val="20383F"/>
                </a:solidFill>
              </a:defRPr>
            </a:lvl6pPr>
            <a:lvl7pPr>
              <a:defRPr sz="2100" b="0">
                <a:solidFill>
                  <a:srgbClr val="20383F"/>
                </a:solidFill>
              </a:defRPr>
            </a:lvl7pPr>
            <a:lvl8pPr>
              <a:defRPr sz="2100" b="0">
                <a:solidFill>
                  <a:srgbClr val="20383F"/>
                </a:solidFill>
              </a:defRPr>
            </a:lvl8pPr>
            <a:lvl9pPr>
              <a:defRPr sz="2100" b="0">
                <a:solidFill>
                  <a:srgbClr val="20383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3F"/>
                </a:solidFill>
              </a:defRPr>
            </a:pPr>
            <a:r>
              <a:rPr sz="2100" b="0">
                <a:solidFill>
                  <a:srgbClr val="20383F"/>
                </a:solidFill>
              </a:rPr>
              <a:t>Compare identical held-out targets at 15, 30, 60, 90 and 120 minutes.</a:t>
            </a:r>
          </a:p>
        </p:txBody>
      </p:sp>
    </p:spTree>
    <p:extLst>
      <p:ext uri="{BB962C8B-B14F-4D97-AF65-F5344CB8AC3E}">
        <p14:creationId xmlns:p14="http://schemas.microsoft.com/office/powerpoint/2010/main" val="15937351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96C8F-1805-4F59-A266-BE83A6A7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B3C"/>
                </a:solidFill>
              </a:defRPr>
            </a:defPPr>
            <a:lvl1pPr>
              <a:defRPr sz="3300" b="1">
                <a:solidFill>
                  <a:srgbClr val="123B3C"/>
                </a:solidFill>
              </a:defRPr>
            </a:lvl1pPr>
            <a:lvl2pPr>
              <a:defRPr sz="3300" b="1">
                <a:solidFill>
                  <a:srgbClr val="123B3C"/>
                </a:solidFill>
              </a:defRPr>
            </a:lvl2pPr>
            <a:lvl3pPr>
              <a:defRPr sz="3300" b="1">
                <a:solidFill>
                  <a:srgbClr val="123B3C"/>
                </a:solidFill>
              </a:defRPr>
            </a:lvl3pPr>
            <a:lvl4pPr>
              <a:defRPr sz="3300" b="1">
                <a:solidFill>
                  <a:srgbClr val="123B3C"/>
                </a:solidFill>
              </a:defRPr>
            </a:lvl4pPr>
            <a:lvl5pPr>
              <a:defRPr sz="3300" b="1">
                <a:solidFill>
                  <a:srgbClr val="123B3C"/>
                </a:solidFill>
              </a:defRPr>
            </a:lvl5pPr>
            <a:lvl6pPr>
              <a:defRPr sz="3300" b="1">
                <a:solidFill>
                  <a:srgbClr val="123B3C"/>
                </a:solidFill>
              </a:defRPr>
            </a:lvl6pPr>
            <a:lvl7pPr>
              <a:defRPr sz="3300" b="1">
                <a:solidFill>
                  <a:srgbClr val="123B3C"/>
                </a:solidFill>
              </a:defRPr>
            </a:lvl7pPr>
            <a:lvl8pPr>
              <a:defRPr sz="3300" b="1">
                <a:solidFill>
                  <a:srgbClr val="123B3C"/>
                </a:solidFill>
              </a:defRPr>
            </a:lvl8pPr>
            <a:lvl9pPr>
              <a:defRPr sz="3300" b="1">
                <a:solidFill>
                  <a:srgbClr val="123B3C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B3C"/>
                </a:solidFill>
              </a:defRPr>
            </a:pPr>
            <a:r>
              <a:rPr sz="3300" b="1">
                <a:solidFill>
                  <a:srgbClr val="123B3C"/>
                </a:solidFill>
              </a:rPr>
              <a:t>Regression is strongest on this simulator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7463C-96B8-43E1-B7DA-9319209F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B71"/>
                </a:solidFill>
              </a:defRPr>
            </a:defPPr>
            <a:lvl1pPr>
              <a:defRPr sz="1800" b="0">
                <a:solidFill>
                  <a:srgbClr val="526B71"/>
                </a:solidFill>
              </a:defRPr>
            </a:lvl1pPr>
            <a:lvl2pPr>
              <a:defRPr sz="1800" b="0">
                <a:solidFill>
                  <a:srgbClr val="526B71"/>
                </a:solidFill>
              </a:defRPr>
            </a:lvl2pPr>
            <a:lvl3pPr>
              <a:defRPr sz="1800" b="0">
                <a:solidFill>
                  <a:srgbClr val="526B71"/>
                </a:solidFill>
              </a:defRPr>
            </a:lvl3pPr>
            <a:lvl4pPr>
              <a:defRPr sz="1800" b="0">
                <a:solidFill>
                  <a:srgbClr val="526B71"/>
                </a:solidFill>
              </a:defRPr>
            </a:lvl4pPr>
            <a:lvl5pPr>
              <a:defRPr sz="1800" b="0">
                <a:solidFill>
                  <a:srgbClr val="526B71"/>
                </a:solidFill>
              </a:defRPr>
            </a:lvl5pPr>
            <a:lvl6pPr>
              <a:defRPr sz="1800" b="0">
                <a:solidFill>
                  <a:srgbClr val="526B71"/>
                </a:solidFill>
              </a:defRPr>
            </a:lvl6pPr>
            <a:lvl7pPr>
              <a:defRPr sz="1800" b="0">
                <a:solidFill>
                  <a:srgbClr val="526B71"/>
                </a:solidFill>
              </a:defRPr>
            </a:lvl7pPr>
            <a:lvl8pPr>
              <a:defRPr sz="1800" b="0">
                <a:solidFill>
                  <a:srgbClr val="526B71"/>
                </a:solidFill>
              </a:defRPr>
            </a:lvl8pPr>
            <a:lvl9pPr>
              <a:defRPr sz="1800" b="0">
                <a:solidFill>
                  <a:srgbClr val="526B7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B71"/>
                </a:solidFill>
              </a:defRPr>
            </a:pPr>
            <a:r>
              <a:rPr sz="1800" b="0">
                <a:solidFill>
                  <a:srgbClr val="526B71"/>
                </a:solidFill>
              </a:rPr>
              <a:t>RMSE in mg/dL; 276 held-out predictions per model and horizon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A0A8B32-ABE9-43EE-BC76-B1A60DA36F05}"/>
              </a:ext>
            </a:extLst>
          </p:cNvPr>
          <p:cNvGraphicFramePr/>
          <p:nvPr/>
        </p:nvGraphicFramePr>
        <p:xfrm>
          <a:off xmlns:a="http://schemas.openxmlformats.org/drawingml/2006/main" x="609600" y="2333625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1334fdf0e946c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BF08E-5BDA-4056-AE04-3B34EF5A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35521"/>
                </a:solidFill>
              </a:defRPr>
            </a:defPPr>
            <a:lvl1pPr>
              <a:defRPr sz="1650" b="0">
                <a:solidFill>
                  <a:srgbClr val="735521"/>
                </a:solidFill>
              </a:defRPr>
            </a:lvl1pPr>
            <a:lvl2pPr>
              <a:defRPr sz="1650" b="0">
                <a:solidFill>
                  <a:srgbClr val="735521"/>
                </a:solidFill>
              </a:defRPr>
            </a:lvl2pPr>
            <a:lvl3pPr>
              <a:defRPr sz="1650" b="0">
                <a:solidFill>
                  <a:srgbClr val="735521"/>
                </a:solidFill>
              </a:defRPr>
            </a:lvl3pPr>
            <a:lvl4pPr>
              <a:defRPr sz="1650" b="0">
                <a:solidFill>
                  <a:srgbClr val="735521"/>
                </a:solidFill>
              </a:defRPr>
            </a:lvl4pPr>
            <a:lvl5pPr>
              <a:defRPr sz="1650" b="0">
                <a:solidFill>
                  <a:srgbClr val="735521"/>
                </a:solidFill>
              </a:defRPr>
            </a:lvl5pPr>
            <a:lvl6pPr>
              <a:defRPr sz="1650" b="0">
                <a:solidFill>
                  <a:srgbClr val="735521"/>
                </a:solidFill>
              </a:defRPr>
            </a:lvl6pPr>
            <a:lvl7pPr>
              <a:defRPr sz="1650" b="0">
                <a:solidFill>
                  <a:srgbClr val="735521"/>
                </a:solidFill>
              </a:defRPr>
            </a:lvl7pPr>
            <a:lvl8pPr>
              <a:defRPr sz="1650" b="0">
                <a:solidFill>
                  <a:srgbClr val="735521"/>
                </a:solidFill>
              </a:defRPr>
            </a:lvl8pPr>
            <a:lvl9pPr>
              <a:defRPr sz="1650" b="0">
                <a:solidFill>
                  <a:srgbClr val="735521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735521"/>
                </a:solidFill>
              </a:defRPr>
            </a:pPr>
            <a:r>
              <a:rPr sz="1650" b="0">
                <a:solidFill>
                  <a:srgbClr val="735521"/>
                </a:solidFill>
              </a:rPr>
              <a:t>Synthetic results cannot establish clinical validity. Reduced-order also loses to persistence at 15 minutes.</a:t>
            </a:r>
          </a:p>
        </p:txBody>
      </p:sp>
    </p:spTree>
    <p:extLst>
      <p:ext uri="{BB962C8B-B14F-4D97-AF65-F5344CB8AC3E}">
        <p14:creationId xmlns:p14="http://schemas.microsoft.com/office/powerpoint/2010/main" val="2784287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92711-C835-41BD-946F-D29A1FCF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B3C"/>
                </a:solidFill>
              </a:defRPr>
            </a:defPPr>
            <a:lvl1pPr>
              <a:defRPr sz="3300" b="1">
                <a:solidFill>
                  <a:srgbClr val="123B3C"/>
                </a:solidFill>
              </a:defRPr>
            </a:lvl1pPr>
            <a:lvl2pPr>
              <a:defRPr sz="3300" b="1">
                <a:solidFill>
                  <a:srgbClr val="123B3C"/>
                </a:solidFill>
              </a:defRPr>
            </a:lvl2pPr>
            <a:lvl3pPr>
              <a:defRPr sz="3300" b="1">
                <a:solidFill>
                  <a:srgbClr val="123B3C"/>
                </a:solidFill>
              </a:defRPr>
            </a:lvl3pPr>
            <a:lvl4pPr>
              <a:defRPr sz="3300" b="1">
                <a:solidFill>
                  <a:srgbClr val="123B3C"/>
                </a:solidFill>
              </a:defRPr>
            </a:lvl4pPr>
            <a:lvl5pPr>
              <a:defRPr sz="3300" b="1">
                <a:solidFill>
                  <a:srgbClr val="123B3C"/>
                </a:solidFill>
              </a:defRPr>
            </a:lvl5pPr>
            <a:lvl6pPr>
              <a:defRPr sz="3300" b="1">
                <a:solidFill>
                  <a:srgbClr val="123B3C"/>
                </a:solidFill>
              </a:defRPr>
            </a:lvl6pPr>
            <a:lvl7pPr>
              <a:defRPr sz="3300" b="1">
                <a:solidFill>
                  <a:srgbClr val="123B3C"/>
                </a:solidFill>
              </a:defRPr>
            </a:lvl7pPr>
            <a:lvl8pPr>
              <a:defRPr sz="3300" b="1">
                <a:solidFill>
                  <a:srgbClr val="123B3C"/>
                </a:solidFill>
              </a:defRPr>
            </a:lvl8pPr>
            <a:lvl9pPr>
              <a:defRPr sz="3300" b="1">
                <a:solidFill>
                  <a:srgbClr val="123B3C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B3C"/>
                </a:solidFill>
              </a:defRPr>
            </a:pPr>
            <a:r>
              <a:rPr sz="3300" b="1">
                <a:solidFill>
                  <a:srgbClr val="123B3C"/>
                </a:solidFill>
              </a:rPr>
              <a:t>Uncertainty and 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ED00B-17A3-4F84-8BF4-48F68B91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B71"/>
                </a:solidFill>
              </a:defRPr>
            </a:defPPr>
            <a:lvl1pPr>
              <a:defRPr sz="1800" b="0">
                <a:solidFill>
                  <a:srgbClr val="526B71"/>
                </a:solidFill>
              </a:defRPr>
            </a:lvl1pPr>
            <a:lvl2pPr>
              <a:defRPr sz="1800" b="0">
                <a:solidFill>
                  <a:srgbClr val="526B71"/>
                </a:solidFill>
              </a:defRPr>
            </a:lvl2pPr>
            <a:lvl3pPr>
              <a:defRPr sz="1800" b="0">
                <a:solidFill>
                  <a:srgbClr val="526B71"/>
                </a:solidFill>
              </a:defRPr>
            </a:lvl3pPr>
            <a:lvl4pPr>
              <a:defRPr sz="1800" b="0">
                <a:solidFill>
                  <a:srgbClr val="526B71"/>
                </a:solidFill>
              </a:defRPr>
            </a:lvl4pPr>
            <a:lvl5pPr>
              <a:defRPr sz="1800" b="0">
                <a:solidFill>
                  <a:srgbClr val="526B71"/>
                </a:solidFill>
              </a:defRPr>
            </a:lvl5pPr>
            <a:lvl6pPr>
              <a:defRPr sz="1800" b="0">
                <a:solidFill>
                  <a:srgbClr val="526B71"/>
                </a:solidFill>
              </a:defRPr>
            </a:lvl6pPr>
            <a:lvl7pPr>
              <a:defRPr sz="1800" b="0">
                <a:solidFill>
                  <a:srgbClr val="526B71"/>
                </a:solidFill>
              </a:defRPr>
            </a:lvl7pPr>
            <a:lvl8pPr>
              <a:defRPr sz="1800" b="0">
                <a:solidFill>
                  <a:srgbClr val="526B71"/>
                </a:solidFill>
              </a:defRPr>
            </a:lvl8pPr>
            <a:lvl9pPr>
              <a:defRPr sz="1800" b="0">
                <a:solidFill>
                  <a:srgbClr val="526B7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B71"/>
                </a:solidFill>
              </a:defRPr>
            </a:pPr>
            <a:r>
              <a:rPr sz="1800" b="0">
                <a:solidFill>
                  <a:srgbClr val="526B71"/>
                </a:solidFill>
              </a:rPr>
              <a:t>The interface suppresses unsupported confidence bands and risk percentages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D1F9A-801F-4294-9120-37D752CC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796C"/>
                </a:solidFill>
              </a:defRPr>
            </a:defPPr>
            <a:lvl1pPr>
              <a:defRPr sz="1875" b="1">
                <a:solidFill>
                  <a:srgbClr val="13796C"/>
                </a:solidFill>
              </a:defRPr>
            </a:lvl1pPr>
            <a:lvl2pPr>
              <a:defRPr sz="1875" b="1">
                <a:solidFill>
                  <a:srgbClr val="13796C"/>
                </a:solidFill>
              </a:defRPr>
            </a:lvl2pPr>
            <a:lvl3pPr>
              <a:defRPr sz="1875" b="1">
                <a:solidFill>
                  <a:srgbClr val="13796C"/>
                </a:solidFill>
              </a:defRPr>
            </a:lvl3pPr>
            <a:lvl4pPr>
              <a:defRPr sz="1875" b="1">
                <a:solidFill>
                  <a:srgbClr val="13796C"/>
                </a:solidFill>
              </a:defRPr>
            </a:lvl4pPr>
            <a:lvl5pPr>
              <a:defRPr sz="1875" b="1">
                <a:solidFill>
                  <a:srgbClr val="13796C"/>
                </a:solidFill>
              </a:defRPr>
            </a:lvl5pPr>
            <a:lvl6pPr>
              <a:defRPr sz="1875" b="1">
                <a:solidFill>
                  <a:srgbClr val="13796C"/>
                </a:solidFill>
              </a:defRPr>
            </a:lvl6pPr>
            <a:lvl7pPr>
              <a:defRPr sz="1875" b="1">
                <a:solidFill>
                  <a:srgbClr val="13796C"/>
                </a:solidFill>
              </a:defRPr>
            </a:lvl7pPr>
            <a:lvl8pPr>
              <a:defRPr sz="1875" b="1">
                <a:solidFill>
                  <a:srgbClr val="13796C"/>
                </a:solidFill>
              </a:defRPr>
            </a:lvl8pPr>
            <a:lvl9pPr>
              <a:defRPr sz="1875" b="1">
                <a:solidFill>
                  <a:srgbClr val="13796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796C"/>
                </a:solidFill>
              </a:defRPr>
            </a:pPr>
            <a:r>
              <a:rPr sz="1875" b="1">
                <a:solidFill>
                  <a:srgbClr val="13796C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4775C-3B4E-4E38-89A5-A0F37B62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3F"/>
                </a:solidFill>
              </a:defRPr>
            </a:defPPr>
            <a:lvl1pPr>
              <a:defRPr sz="2100" b="0">
                <a:solidFill>
                  <a:srgbClr val="20383F"/>
                </a:solidFill>
              </a:defRPr>
            </a:lvl1pPr>
            <a:lvl2pPr>
              <a:defRPr sz="2100" b="0">
                <a:solidFill>
                  <a:srgbClr val="20383F"/>
                </a:solidFill>
              </a:defRPr>
            </a:lvl2pPr>
            <a:lvl3pPr>
              <a:defRPr sz="2100" b="0">
                <a:solidFill>
                  <a:srgbClr val="20383F"/>
                </a:solidFill>
              </a:defRPr>
            </a:lvl3pPr>
            <a:lvl4pPr>
              <a:defRPr sz="2100" b="0">
                <a:solidFill>
                  <a:srgbClr val="20383F"/>
                </a:solidFill>
              </a:defRPr>
            </a:lvl4pPr>
            <a:lvl5pPr>
              <a:defRPr sz="2100" b="0">
                <a:solidFill>
                  <a:srgbClr val="20383F"/>
                </a:solidFill>
              </a:defRPr>
            </a:lvl5pPr>
            <a:lvl6pPr>
              <a:defRPr sz="2100" b="0">
                <a:solidFill>
                  <a:srgbClr val="20383F"/>
                </a:solidFill>
              </a:defRPr>
            </a:lvl6pPr>
            <a:lvl7pPr>
              <a:defRPr sz="2100" b="0">
                <a:solidFill>
                  <a:srgbClr val="20383F"/>
                </a:solidFill>
              </a:defRPr>
            </a:lvl7pPr>
            <a:lvl8pPr>
              <a:defRPr sz="2100" b="0">
                <a:solidFill>
                  <a:srgbClr val="20383F"/>
                </a:solidFill>
              </a:defRPr>
            </a:lvl8pPr>
            <a:lvl9pPr>
              <a:defRPr sz="2100" b="0">
                <a:solidFill>
                  <a:srgbClr val="20383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3F"/>
                </a:solidFill>
              </a:defRPr>
            </a:pPr>
            <a:r>
              <a:rPr sz="2100" b="0">
                <a:solidFill>
                  <a:srgbClr val="20383F"/>
                </a:solidFill>
              </a:rPr>
              <a:t>No calibrated intervals, probabilistic Brier score or verified Clarke grid.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F40D7-944E-4120-A3A8-1AE43FDF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796C"/>
                </a:solidFill>
              </a:defRPr>
            </a:defPPr>
            <a:lvl1pPr>
              <a:defRPr sz="1875" b="1">
                <a:solidFill>
                  <a:srgbClr val="13796C"/>
                </a:solidFill>
              </a:defRPr>
            </a:lvl1pPr>
            <a:lvl2pPr>
              <a:defRPr sz="1875" b="1">
                <a:solidFill>
                  <a:srgbClr val="13796C"/>
                </a:solidFill>
              </a:defRPr>
            </a:lvl2pPr>
            <a:lvl3pPr>
              <a:defRPr sz="1875" b="1">
                <a:solidFill>
                  <a:srgbClr val="13796C"/>
                </a:solidFill>
              </a:defRPr>
            </a:lvl3pPr>
            <a:lvl4pPr>
              <a:defRPr sz="1875" b="1">
                <a:solidFill>
                  <a:srgbClr val="13796C"/>
                </a:solidFill>
              </a:defRPr>
            </a:lvl4pPr>
            <a:lvl5pPr>
              <a:defRPr sz="1875" b="1">
                <a:solidFill>
                  <a:srgbClr val="13796C"/>
                </a:solidFill>
              </a:defRPr>
            </a:lvl5pPr>
            <a:lvl6pPr>
              <a:defRPr sz="1875" b="1">
                <a:solidFill>
                  <a:srgbClr val="13796C"/>
                </a:solidFill>
              </a:defRPr>
            </a:lvl6pPr>
            <a:lvl7pPr>
              <a:defRPr sz="1875" b="1">
                <a:solidFill>
                  <a:srgbClr val="13796C"/>
                </a:solidFill>
              </a:defRPr>
            </a:lvl7pPr>
            <a:lvl8pPr>
              <a:defRPr sz="1875" b="1">
                <a:solidFill>
                  <a:srgbClr val="13796C"/>
                </a:solidFill>
              </a:defRPr>
            </a:lvl8pPr>
            <a:lvl9pPr>
              <a:defRPr sz="1875" b="1">
                <a:solidFill>
                  <a:srgbClr val="13796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796C"/>
                </a:solidFill>
              </a:defRPr>
            </a:pPr>
            <a:r>
              <a:rPr sz="1875" b="1">
                <a:solidFill>
                  <a:srgbClr val="13796C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936FB-D882-40A7-AAC8-06F23FDD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3F"/>
                </a:solidFill>
              </a:defRPr>
            </a:defPPr>
            <a:lvl1pPr>
              <a:defRPr sz="2100" b="0">
                <a:solidFill>
                  <a:srgbClr val="20383F"/>
                </a:solidFill>
              </a:defRPr>
            </a:lvl1pPr>
            <a:lvl2pPr>
              <a:defRPr sz="2100" b="0">
                <a:solidFill>
                  <a:srgbClr val="20383F"/>
                </a:solidFill>
              </a:defRPr>
            </a:lvl2pPr>
            <a:lvl3pPr>
              <a:defRPr sz="2100" b="0">
                <a:solidFill>
                  <a:srgbClr val="20383F"/>
                </a:solidFill>
              </a:defRPr>
            </a:lvl3pPr>
            <a:lvl4pPr>
              <a:defRPr sz="2100" b="0">
                <a:solidFill>
                  <a:srgbClr val="20383F"/>
                </a:solidFill>
              </a:defRPr>
            </a:lvl4pPr>
            <a:lvl5pPr>
              <a:defRPr sz="2100" b="0">
                <a:solidFill>
                  <a:srgbClr val="20383F"/>
                </a:solidFill>
              </a:defRPr>
            </a:lvl5pPr>
            <a:lvl6pPr>
              <a:defRPr sz="2100" b="0">
                <a:solidFill>
                  <a:srgbClr val="20383F"/>
                </a:solidFill>
              </a:defRPr>
            </a:lvl6pPr>
            <a:lvl7pPr>
              <a:defRPr sz="2100" b="0">
                <a:solidFill>
                  <a:srgbClr val="20383F"/>
                </a:solidFill>
              </a:defRPr>
            </a:lvl7pPr>
            <a:lvl8pPr>
              <a:defRPr sz="2100" b="0">
                <a:solidFill>
                  <a:srgbClr val="20383F"/>
                </a:solidFill>
              </a:defRPr>
            </a:lvl8pPr>
            <a:lvl9pPr>
              <a:defRPr sz="2100" b="0">
                <a:solidFill>
                  <a:srgbClr val="20383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3F"/>
                </a:solidFill>
              </a:defRPr>
            </a:pPr>
            <a:r>
              <a:rPr sz="2100" b="0">
                <a:solidFill>
                  <a:srgbClr val="20383F"/>
                </a:solidFill>
              </a:rPr>
              <a:t>Unannounced meals and the artificial low scenario expose forecast limitations.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C8C55-6657-4194-9911-BC0B96D4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796C"/>
                </a:solidFill>
              </a:defRPr>
            </a:defPPr>
            <a:lvl1pPr>
              <a:defRPr sz="1875" b="1">
                <a:solidFill>
                  <a:srgbClr val="13796C"/>
                </a:solidFill>
              </a:defRPr>
            </a:lvl1pPr>
            <a:lvl2pPr>
              <a:defRPr sz="1875" b="1">
                <a:solidFill>
                  <a:srgbClr val="13796C"/>
                </a:solidFill>
              </a:defRPr>
            </a:lvl2pPr>
            <a:lvl3pPr>
              <a:defRPr sz="1875" b="1">
                <a:solidFill>
                  <a:srgbClr val="13796C"/>
                </a:solidFill>
              </a:defRPr>
            </a:lvl3pPr>
            <a:lvl4pPr>
              <a:defRPr sz="1875" b="1">
                <a:solidFill>
                  <a:srgbClr val="13796C"/>
                </a:solidFill>
              </a:defRPr>
            </a:lvl4pPr>
            <a:lvl5pPr>
              <a:defRPr sz="1875" b="1">
                <a:solidFill>
                  <a:srgbClr val="13796C"/>
                </a:solidFill>
              </a:defRPr>
            </a:lvl5pPr>
            <a:lvl6pPr>
              <a:defRPr sz="1875" b="1">
                <a:solidFill>
                  <a:srgbClr val="13796C"/>
                </a:solidFill>
              </a:defRPr>
            </a:lvl6pPr>
            <a:lvl7pPr>
              <a:defRPr sz="1875" b="1">
                <a:solidFill>
                  <a:srgbClr val="13796C"/>
                </a:solidFill>
              </a:defRPr>
            </a:lvl7pPr>
            <a:lvl8pPr>
              <a:defRPr sz="1875" b="1">
                <a:solidFill>
                  <a:srgbClr val="13796C"/>
                </a:solidFill>
              </a:defRPr>
            </a:lvl8pPr>
            <a:lvl9pPr>
              <a:defRPr sz="1875" b="1">
                <a:solidFill>
                  <a:srgbClr val="13796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796C"/>
                </a:solidFill>
              </a:defRPr>
            </a:pPr>
            <a:r>
              <a:rPr sz="1875" b="1">
                <a:solidFill>
                  <a:srgbClr val="13796C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E59D7-D3A3-405F-94CD-88837502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3F"/>
                </a:solidFill>
              </a:defRPr>
            </a:defPPr>
            <a:lvl1pPr>
              <a:defRPr sz="2100" b="0">
                <a:solidFill>
                  <a:srgbClr val="20383F"/>
                </a:solidFill>
              </a:defRPr>
            </a:lvl1pPr>
            <a:lvl2pPr>
              <a:defRPr sz="2100" b="0">
                <a:solidFill>
                  <a:srgbClr val="20383F"/>
                </a:solidFill>
              </a:defRPr>
            </a:lvl2pPr>
            <a:lvl3pPr>
              <a:defRPr sz="2100" b="0">
                <a:solidFill>
                  <a:srgbClr val="20383F"/>
                </a:solidFill>
              </a:defRPr>
            </a:lvl3pPr>
            <a:lvl4pPr>
              <a:defRPr sz="2100" b="0">
                <a:solidFill>
                  <a:srgbClr val="20383F"/>
                </a:solidFill>
              </a:defRPr>
            </a:lvl4pPr>
            <a:lvl5pPr>
              <a:defRPr sz="2100" b="0">
                <a:solidFill>
                  <a:srgbClr val="20383F"/>
                </a:solidFill>
              </a:defRPr>
            </a:lvl5pPr>
            <a:lvl6pPr>
              <a:defRPr sz="2100" b="0">
                <a:solidFill>
                  <a:srgbClr val="20383F"/>
                </a:solidFill>
              </a:defRPr>
            </a:lvl6pPr>
            <a:lvl7pPr>
              <a:defRPr sz="2100" b="0">
                <a:solidFill>
                  <a:srgbClr val="20383F"/>
                </a:solidFill>
              </a:defRPr>
            </a:lvl7pPr>
            <a:lvl8pPr>
              <a:defRPr sz="2100" b="0">
                <a:solidFill>
                  <a:srgbClr val="20383F"/>
                </a:solidFill>
              </a:defRPr>
            </a:lvl8pPr>
            <a:lvl9pPr>
              <a:defRPr sz="2100" b="0">
                <a:solidFill>
                  <a:srgbClr val="20383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3F"/>
                </a:solidFill>
              </a:defRPr>
            </a:pPr>
            <a:r>
              <a:rPr sz="2100" b="0">
                <a:solidFill>
                  <a:srgbClr val="20383F"/>
                </a:solidFill>
              </a:rPr>
              <a:t>Missing, stale and unsupported inputs trigger explicit quality states or errors.</a:t>
            </a:r>
          </a:p>
        </p:txBody>
      </p:sp>
    </p:spTree>
    <p:extLst>
      <p:ext uri="{BB962C8B-B14F-4D97-AF65-F5344CB8AC3E}">
        <p14:creationId xmlns:p14="http://schemas.microsoft.com/office/powerpoint/2010/main" val="3882052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6884B-FFD0-4ED8-ACDC-B3D0D15F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B3C"/>
                </a:solidFill>
              </a:defRPr>
            </a:defPPr>
            <a:lvl1pPr>
              <a:defRPr sz="3300" b="1">
                <a:solidFill>
                  <a:srgbClr val="123B3C"/>
                </a:solidFill>
              </a:defRPr>
            </a:lvl1pPr>
            <a:lvl2pPr>
              <a:defRPr sz="3300" b="1">
                <a:solidFill>
                  <a:srgbClr val="123B3C"/>
                </a:solidFill>
              </a:defRPr>
            </a:lvl2pPr>
            <a:lvl3pPr>
              <a:defRPr sz="3300" b="1">
                <a:solidFill>
                  <a:srgbClr val="123B3C"/>
                </a:solidFill>
              </a:defRPr>
            </a:lvl3pPr>
            <a:lvl4pPr>
              <a:defRPr sz="3300" b="1">
                <a:solidFill>
                  <a:srgbClr val="123B3C"/>
                </a:solidFill>
              </a:defRPr>
            </a:lvl4pPr>
            <a:lvl5pPr>
              <a:defRPr sz="3300" b="1">
                <a:solidFill>
                  <a:srgbClr val="123B3C"/>
                </a:solidFill>
              </a:defRPr>
            </a:lvl5pPr>
            <a:lvl6pPr>
              <a:defRPr sz="3300" b="1">
                <a:solidFill>
                  <a:srgbClr val="123B3C"/>
                </a:solidFill>
              </a:defRPr>
            </a:lvl6pPr>
            <a:lvl7pPr>
              <a:defRPr sz="3300" b="1">
                <a:solidFill>
                  <a:srgbClr val="123B3C"/>
                </a:solidFill>
              </a:defRPr>
            </a:lvl7pPr>
            <a:lvl8pPr>
              <a:defRPr sz="3300" b="1">
                <a:solidFill>
                  <a:srgbClr val="123B3C"/>
                </a:solidFill>
              </a:defRPr>
            </a:lvl8pPr>
            <a:lvl9pPr>
              <a:defRPr sz="3300" b="1">
                <a:solidFill>
                  <a:srgbClr val="123B3C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B3C"/>
                </a:solidFill>
              </a:defRPr>
            </a:pPr>
            <a:r>
              <a:rPr sz="3300" b="1">
                <a:solidFill>
                  <a:srgbClr val="123B3C"/>
                </a:solidFill>
              </a:rPr>
              <a:t>Prototype 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AC8C6-9C6A-494F-86F8-AB901E89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B71"/>
                </a:solidFill>
              </a:defRPr>
            </a:defPPr>
            <a:lvl1pPr>
              <a:defRPr sz="1800" b="0">
                <a:solidFill>
                  <a:srgbClr val="526B71"/>
                </a:solidFill>
              </a:defRPr>
            </a:lvl1pPr>
            <a:lvl2pPr>
              <a:defRPr sz="1800" b="0">
                <a:solidFill>
                  <a:srgbClr val="526B71"/>
                </a:solidFill>
              </a:defRPr>
            </a:lvl2pPr>
            <a:lvl3pPr>
              <a:defRPr sz="1800" b="0">
                <a:solidFill>
                  <a:srgbClr val="526B71"/>
                </a:solidFill>
              </a:defRPr>
            </a:lvl3pPr>
            <a:lvl4pPr>
              <a:defRPr sz="1800" b="0">
                <a:solidFill>
                  <a:srgbClr val="526B71"/>
                </a:solidFill>
              </a:defRPr>
            </a:lvl4pPr>
            <a:lvl5pPr>
              <a:defRPr sz="1800" b="0">
                <a:solidFill>
                  <a:srgbClr val="526B71"/>
                </a:solidFill>
              </a:defRPr>
            </a:lvl5pPr>
            <a:lvl6pPr>
              <a:defRPr sz="1800" b="0">
                <a:solidFill>
                  <a:srgbClr val="526B71"/>
                </a:solidFill>
              </a:defRPr>
            </a:lvl6pPr>
            <a:lvl7pPr>
              <a:defRPr sz="1800" b="0">
                <a:solidFill>
                  <a:srgbClr val="526B71"/>
                </a:solidFill>
              </a:defRPr>
            </a:lvl7pPr>
            <a:lvl8pPr>
              <a:defRPr sz="1800" b="0">
                <a:solidFill>
                  <a:srgbClr val="526B71"/>
                </a:solidFill>
              </a:defRPr>
            </a:lvl8pPr>
            <a:lvl9pPr>
              <a:defRPr sz="1800" b="0">
                <a:solidFill>
                  <a:srgbClr val="526B7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B71"/>
                </a:solidFill>
              </a:defRPr>
            </a:pPr>
            <a:r>
              <a:rPr sz="1800" b="0">
                <a:solidFill>
                  <a:srgbClr val="526B71"/>
                </a:solidFill>
              </a:rPr>
              <a:t>Revocation blocks protected endpoints and closes active live subscriptions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47F5F-2010-4A54-A077-15098335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796C"/>
                </a:solidFill>
              </a:defRPr>
            </a:defPPr>
            <a:lvl1pPr>
              <a:defRPr sz="1875" b="1">
                <a:solidFill>
                  <a:srgbClr val="13796C"/>
                </a:solidFill>
              </a:defRPr>
            </a:lvl1pPr>
            <a:lvl2pPr>
              <a:defRPr sz="1875" b="1">
                <a:solidFill>
                  <a:srgbClr val="13796C"/>
                </a:solidFill>
              </a:defRPr>
            </a:lvl2pPr>
            <a:lvl3pPr>
              <a:defRPr sz="1875" b="1">
                <a:solidFill>
                  <a:srgbClr val="13796C"/>
                </a:solidFill>
              </a:defRPr>
            </a:lvl3pPr>
            <a:lvl4pPr>
              <a:defRPr sz="1875" b="1">
                <a:solidFill>
                  <a:srgbClr val="13796C"/>
                </a:solidFill>
              </a:defRPr>
            </a:lvl4pPr>
            <a:lvl5pPr>
              <a:defRPr sz="1875" b="1">
                <a:solidFill>
                  <a:srgbClr val="13796C"/>
                </a:solidFill>
              </a:defRPr>
            </a:lvl5pPr>
            <a:lvl6pPr>
              <a:defRPr sz="1875" b="1">
                <a:solidFill>
                  <a:srgbClr val="13796C"/>
                </a:solidFill>
              </a:defRPr>
            </a:lvl6pPr>
            <a:lvl7pPr>
              <a:defRPr sz="1875" b="1">
                <a:solidFill>
                  <a:srgbClr val="13796C"/>
                </a:solidFill>
              </a:defRPr>
            </a:lvl7pPr>
            <a:lvl8pPr>
              <a:defRPr sz="1875" b="1">
                <a:solidFill>
                  <a:srgbClr val="13796C"/>
                </a:solidFill>
              </a:defRPr>
            </a:lvl8pPr>
            <a:lvl9pPr>
              <a:defRPr sz="1875" b="1">
                <a:solidFill>
                  <a:srgbClr val="13796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796C"/>
                </a:solidFill>
              </a:defRPr>
            </a:pPr>
            <a:r>
              <a:rPr sz="1875" b="1">
                <a:solidFill>
                  <a:srgbClr val="13796C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4E019-1D33-473F-BA81-1FCB1582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3F"/>
                </a:solidFill>
              </a:defRPr>
            </a:defPPr>
            <a:lvl1pPr>
              <a:defRPr sz="2100" b="0">
                <a:solidFill>
                  <a:srgbClr val="20383F"/>
                </a:solidFill>
              </a:defRPr>
            </a:lvl1pPr>
            <a:lvl2pPr>
              <a:defRPr sz="2100" b="0">
                <a:solidFill>
                  <a:srgbClr val="20383F"/>
                </a:solidFill>
              </a:defRPr>
            </a:lvl2pPr>
            <a:lvl3pPr>
              <a:defRPr sz="2100" b="0">
                <a:solidFill>
                  <a:srgbClr val="20383F"/>
                </a:solidFill>
              </a:defRPr>
            </a:lvl3pPr>
            <a:lvl4pPr>
              <a:defRPr sz="2100" b="0">
                <a:solidFill>
                  <a:srgbClr val="20383F"/>
                </a:solidFill>
              </a:defRPr>
            </a:lvl4pPr>
            <a:lvl5pPr>
              <a:defRPr sz="2100" b="0">
                <a:solidFill>
                  <a:srgbClr val="20383F"/>
                </a:solidFill>
              </a:defRPr>
            </a:lvl5pPr>
            <a:lvl6pPr>
              <a:defRPr sz="2100" b="0">
                <a:solidFill>
                  <a:srgbClr val="20383F"/>
                </a:solidFill>
              </a:defRPr>
            </a:lvl6pPr>
            <a:lvl7pPr>
              <a:defRPr sz="2100" b="0">
                <a:solidFill>
                  <a:srgbClr val="20383F"/>
                </a:solidFill>
              </a:defRPr>
            </a:lvl7pPr>
            <a:lvl8pPr>
              <a:defRPr sz="2100" b="0">
                <a:solidFill>
                  <a:srgbClr val="20383F"/>
                </a:solidFill>
              </a:defRPr>
            </a:lvl8pPr>
            <a:lvl9pPr>
              <a:defRPr sz="2100" b="0">
                <a:solidFill>
                  <a:srgbClr val="20383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3F"/>
                </a:solidFill>
              </a:defRPr>
            </a:pPr>
            <a:r>
              <a:rPr sz="2100" b="0">
                <a:solidFill>
                  <a:srgbClr val="20383F"/>
                </a:solidFill>
              </a:rPr>
              <a:t>FHIR viewer reports local structural checks only. No full ABDM conformance claim.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F9983-C807-46D9-864A-DD150CA9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796C"/>
                </a:solidFill>
              </a:defRPr>
            </a:defPPr>
            <a:lvl1pPr>
              <a:defRPr sz="1875" b="1">
                <a:solidFill>
                  <a:srgbClr val="13796C"/>
                </a:solidFill>
              </a:defRPr>
            </a:lvl1pPr>
            <a:lvl2pPr>
              <a:defRPr sz="1875" b="1">
                <a:solidFill>
                  <a:srgbClr val="13796C"/>
                </a:solidFill>
              </a:defRPr>
            </a:lvl2pPr>
            <a:lvl3pPr>
              <a:defRPr sz="1875" b="1">
                <a:solidFill>
                  <a:srgbClr val="13796C"/>
                </a:solidFill>
              </a:defRPr>
            </a:lvl3pPr>
            <a:lvl4pPr>
              <a:defRPr sz="1875" b="1">
                <a:solidFill>
                  <a:srgbClr val="13796C"/>
                </a:solidFill>
              </a:defRPr>
            </a:lvl4pPr>
            <a:lvl5pPr>
              <a:defRPr sz="1875" b="1">
                <a:solidFill>
                  <a:srgbClr val="13796C"/>
                </a:solidFill>
              </a:defRPr>
            </a:lvl5pPr>
            <a:lvl6pPr>
              <a:defRPr sz="1875" b="1">
                <a:solidFill>
                  <a:srgbClr val="13796C"/>
                </a:solidFill>
              </a:defRPr>
            </a:lvl6pPr>
            <a:lvl7pPr>
              <a:defRPr sz="1875" b="1">
                <a:solidFill>
                  <a:srgbClr val="13796C"/>
                </a:solidFill>
              </a:defRPr>
            </a:lvl7pPr>
            <a:lvl8pPr>
              <a:defRPr sz="1875" b="1">
                <a:solidFill>
                  <a:srgbClr val="13796C"/>
                </a:solidFill>
              </a:defRPr>
            </a:lvl8pPr>
            <a:lvl9pPr>
              <a:defRPr sz="1875" b="1">
                <a:solidFill>
                  <a:srgbClr val="13796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796C"/>
                </a:solidFill>
              </a:defRPr>
            </a:pPr>
            <a:r>
              <a:rPr sz="1875" b="1">
                <a:solidFill>
                  <a:srgbClr val="13796C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FB3FC-72E9-40A4-B594-CB7315A5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3F"/>
                </a:solidFill>
              </a:defRPr>
            </a:defPPr>
            <a:lvl1pPr>
              <a:defRPr sz="2100" b="0">
                <a:solidFill>
                  <a:srgbClr val="20383F"/>
                </a:solidFill>
              </a:defRPr>
            </a:lvl1pPr>
            <a:lvl2pPr>
              <a:defRPr sz="2100" b="0">
                <a:solidFill>
                  <a:srgbClr val="20383F"/>
                </a:solidFill>
              </a:defRPr>
            </a:lvl2pPr>
            <a:lvl3pPr>
              <a:defRPr sz="2100" b="0">
                <a:solidFill>
                  <a:srgbClr val="20383F"/>
                </a:solidFill>
              </a:defRPr>
            </a:lvl3pPr>
            <a:lvl4pPr>
              <a:defRPr sz="2100" b="0">
                <a:solidFill>
                  <a:srgbClr val="20383F"/>
                </a:solidFill>
              </a:defRPr>
            </a:lvl4pPr>
            <a:lvl5pPr>
              <a:defRPr sz="2100" b="0">
                <a:solidFill>
                  <a:srgbClr val="20383F"/>
                </a:solidFill>
              </a:defRPr>
            </a:lvl5pPr>
            <a:lvl6pPr>
              <a:defRPr sz="2100" b="0">
                <a:solidFill>
                  <a:srgbClr val="20383F"/>
                </a:solidFill>
              </a:defRPr>
            </a:lvl6pPr>
            <a:lvl7pPr>
              <a:defRPr sz="2100" b="0">
                <a:solidFill>
                  <a:srgbClr val="20383F"/>
                </a:solidFill>
              </a:defRPr>
            </a:lvl7pPr>
            <a:lvl8pPr>
              <a:defRPr sz="2100" b="0">
                <a:solidFill>
                  <a:srgbClr val="20383F"/>
                </a:solidFill>
              </a:defRPr>
            </a:lvl8pPr>
            <a:lvl9pPr>
              <a:defRPr sz="2100" b="0">
                <a:solidFill>
                  <a:srgbClr val="20383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3F"/>
                </a:solidFill>
              </a:defRPr>
            </a:pPr>
            <a:r>
              <a:rPr sz="2100" b="0">
                <a:solidFill>
                  <a:srgbClr val="20383F"/>
                </a:solidFill>
              </a:rPr>
              <a:t>Consent status and expiry are checked server-side. Demo restoration is intentionally accessible.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BCF31-0662-4623-974B-8A336177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796C"/>
                </a:solidFill>
              </a:defRPr>
            </a:defPPr>
            <a:lvl1pPr>
              <a:defRPr sz="1875" b="1">
                <a:solidFill>
                  <a:srgbClr val="13796C"/>
                </a:solidFill>
              </a:defRPr>
            </a:lvl1pPr>
            <a:lvl2pPr>
              <a:defRPr sz="1875" b="1">
                <a:solidFill>
                  <a:srgbClr val="13796C"/>
                </a:solidFill>
              </a:defRPr>
            </a:lvl2pPr>
            <a:lvl3pPr>
              <a:defRPr sz="1875" b="1">
                <a:solidFill>
                  <a:srgbClr val="13796C"/>
                </a:solidFill>
              </a:defRPr>
            </a:lvl3pPr>
            <a:lvl4pPr>
              <a:defRPr sz="1875" b="1">
                <a:solidFill>
                  <a:srgbClr val="13796C"/>
                </a:solidFill>
              </a:defRPr>
            </a:lvl4pPr>
            <a:lvl5pPr>
              <a:defRPr sz="1875" b="1">
                <a:solidFill>
                  <a:srgbClr val="13796C"/>
                </a:solidFill>
              </a:defRPr>
            </a:lvl5pPr>
            <a:lvl6pPr>
              <a:defRPr sz="1875" b="1">
                <a:solidFill>
                  <a:srgbClr val="13796C"/>
                </a:solidFill>
              </a:defRPr>
            </a:lvl6pPr>
            <a:lvl7pPr>
              <a:defRPr sz="1875" b="1">
                <a:solidFill>
                  <a:srgbClr val="13796C"/>
                </a:solidFill>
              </a:defRPr>
            </a:lvl7pPr>
            <a:lvl8pPr>
              <a:defRPr sz="1875" b="1">
                <a:solidFill>
                  <a:srgbClr val="13796C"/>
                </a:solidFill>
              </a:defRPr>
            </a:lvl8pPr>
            <a:lvl9pPr>
              <a:defRPr sz="1875" b="1">
                <a:solidFill>
                  <a:srgbClr val="13796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796C"/>
                </a:solidFill>
              </a:defRPr>
            </a:pPr>
            <a:r>
              <a:rPr sz="1875" b="1">
                <a:solidFill>
                  <a:srgbClr val="13796C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03CB4-CA2E-4BFF-A4A6-1676C743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3F"/>
                </a:solidFill>
              </a:defRPr>
            </a:defPPr>
            <a:lvl1pPr>
              <a:defRPr sz="2100" b="0">
                <a:solidFill>
                  <a:srgbClr val="20383F"/>
                </a:solidFill>
              </a:defRPr>
            </a:lvl1pPr>
            <a:lvl2pPr>
              <a:defRPr sz="2100" b="0">
                <a:solidFill>
                  <a:srgbClr val="20383F"/>
                </a:solidFill>
              </a:defRPr>
            </a:lvl2pPr>
            <a:lvl3pPr>
              <a:defRPr sz="2100" b="0">
                <a:solidFill>
                  <a:srgbClr val="20383F"/>
                </a:solidFill>
              </a:defRPr>
            </a:lvl3pPr>
            <a:lvl4pPr>
              <a:defRPr sz="2100" b="0">
                <a:solidFill>
                  <a:srgbClr val="20383F"/>
                </a:solidFill>
              </a:defRPr>
            </a:lvl4pPr>
            <a:lvl5pPr>
              <a:defRPr sz="2100" b="0">
                <a:solidFill>
                  <a:srgbClr val="20383F"/>
                </a:solidFill>
              </a:defRPr>
            </a:lvl5pPr>
            <a:lvl6pPr>
              <a:defRPr sz="2100" b="0">
                <a:solidFill>
                  <a:srgbClr val="20383F"/>
                </a:solidFill>
              </a:defRPr>
            </a:lvl6pPr>
            <a:lvl7pPr>
              <a:defRPr sz="2100" b="0">
                <a:solidFill>
                  <a:srgbClr val="20383F"/>
                </a:solidFill>
              </a:defRPr>
            </a:lvl7pPr>
            <a:lvl8pPr>
              <a:defRPr sz="2100" b="0">
                <a:solidFill>
                  <a:srgbClr val="20383F"/>
                </a:solidFill>
              </a:defRPr>
            </a:lvl8pPr>
            <a:lvl9pPr>
              <a:defRPr sz="2100" b="0">
                <a:solidFill>
                  <a:srgbClr val="20383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3F"/>
                </a:solidFill>
              </a:defRPr>
            </a:pPr>
            <a:r>
              <a:rPr sz="2100" b="0">
                <a:solidFill>
                  <a:srgbClr val="20383F"/>
                </a:solidFill>
              </a:rPr>
              <a:t>No identity system or compliance certification. Keep the sandbox on a trusted local computer.</a:t>
            </a:r>
          </a:p>
        </p:txBody>
      </p:sp>
    </p:spTree>
    <p:extLst>
      <p:ext uri="{BB962C8B-B14F-4D97-AF65-F5344CB8AC3E}">
        <p14:creationId xmlns:p14="http://schemas.microsoft.com/office/powerpoint/2010/main" val="9404893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D5952-B38D-4D16-8C01-D20987C2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B3C"/>
                </a:solidFill>
              </a:defRPr>
            </a:defPPr>
            <a:lvl1pPr>
              <a:defRPr sz="3300" b="1">
                <a:solidFill>
                  <a:srgbClr val="123B3C"/>
                </a:solidFill>
              </a:defRPr>
            </a:lvl1pPr>
            <a:lvl2pPr>
              <a:defRPr sz="3300" b="1">
                <a:solidFill>
                  <a:srgbClr val="123B3C"/>
                </a:solidFill>
              </a:defRPr>
            </a:lvl2pPr>
            <a:lvl3pPr>
              <a:defRPr sz="3300" b="1">
                <a:solidFill>
                  <a:srgbClr val="123B3C"/>
                </a:solidFill>
              </a:defRPr>
            </a:lvl3pPr>
            <a:lvl4pPr>
              <a:defRPr sz="3300" b="1">
                <a:solidFill>
                  <a:srgbClr val="123B3C"/>
                </a:solidFill>
              </a:defRPr>
            </a:lvl4pPr>
            <a:lvl5pPr>
              <a:defRPr sz="3300" b="1">
                <a:solidFill>
                  <a:srgbClr val="123B3C"/>
                </a:solidFill>
              </a:defRPr>
            </a:lvl5pPr>
            <a:lvl6pPr>
              <a:defRPr sz="3300" b="1">
                <a:solidFill>
                  <a:srgbClr val="123B3C"/>
                </a:solidFill>
              </a:defRPr>
            </a:lvl6pPr>
            <a:lvl7pPr>
              <a:defRPr sz="3300" b="1">
                <a:solidFill>
                  <a:srgbClr val="123B3C"/>
                </a:solidFill>
              </a:defRPr>
            </a:lvl7pPr>
            <a:lvl8pPr>
              <a:defRPr sz="3300" b="1">
                <a:solidFill>
                  <a:srgbClr val="123B3C"/>
                </a:solidFill>
              </a:defRPr>
            </a:lvl8pPr>
            <a:lvl9pPr>
              <a:defRPr sz="3300" b="1">
                <a:solidFill>
                  <a:srgbClr val="123B3C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B3C"/>
                </a:solidFill>
              </a:defRPr>
            </a:pPr>
            <a:r>
              <a:rPr sz="3300" b="1">
                <a:solidFill>
                  <a:srgbClr val="123B3C"/>
                </a:solidFill>
              </a:rPr>
              <a:t>What remains before submission and clinical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5B225-A330-4446-B589-3DAF425C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B71"/>
                </a:solidFill>
              </a:defRPr>
            </a:defPPr>
            <a:lvl1pPr>
              <a:defRPr sz="1800" b="0">
                <a:solidFill>
                  <a:srgbClr val="526B71"/>
                </a:solidFill>
              </a:defRPr>
            </a:lvl1pPr>
            <a:lvl2pPr>
              <a:defRPr sz="1800" b="0">
                <a:solidFill>
                  <a:srgbClr val="526B71"/>
                </a:solidFill>
              </a:defRPr>
            </a:lvl2pPr>
            <a:lvl3pPr>
              <a:defRPr sz="1800" b="0">
                <a:solidFill>
                  <a:srgbClr val="526B71"/>
                </a:solidFill>
              </a:defRPr>
            </a:lvl3pPr>
            <a:lvl4pPr>
              <a:defRPr sz="1800" b="0">
                <a:solidFill>
                  <a:srgbClr val="526B71"/>
                </a:solidFill>
              </a:defRPr>
            </a:lvl4pPr>
            <a:lvl5pPr>
              <a:defRPr sz="1800" b="0">
                <a:solidFill>
                  <a:srgbClr val="526B71"/>
                </a:solidFill>
              </a:defRPr>
            </a:lvl5pPr>
            <a:lvl6pPr>
              <a:defRPr sz="1800" b="0">
                <a:solidFill>
                  <a:srgbClr val="526B71"/>
                </a:solidFill>
              </a:defRPr>
            </a:lvl6pPr>
            <a:lvl7pPr>
              <a:defRPr sz="1800" b="0">
                <a:solidFill>
                  <a:srgbClr val="526B71"/>
                </a:solidFill>
              </a:defRPr>
            </a:lvl7pPr>
            <a:lvl8pPr>
              <a:defRPr sz="1800" b="0">
                <a:solidFill>
                  <a:srgbClr val="526B71"/>
                </a:solidFill>
              </a:defRPr>
            </a:lvl8pPr>
            <a:lvl9pPr>
              <a:defRPr sz="1800" b="0">
                <a:solidFill>
                  <a:srgbClr val="526B7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B71"/>
                </a:solidFill>
              </a:defRPr>
            </a:pPr>
            <a:r>
              <a:rPr sz="1800" b="0">
                <a:solidFill>
                  <a:srgbClr val="526B71"/>
                </a:solidFill>
              </a:rPr>
              <a:t>Working software is separate from evidence of clinical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C116B-5AEB-46E4-8C4F-9067297F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796C"/>
                </a:solidFill>
              </a:defRPr>
            </a:defPPr>
            <a:lvl1pPr>
              <a:defRPr sz="1875" b="1">
                <a:solidFill>
                  <a:srgbClr val="13796C"/>
                </a:solidFill>
              </a:defRPr>
            </a:lvl1pPr>
            <a:lvl2pPr>
              <a:defRPr sz="1875" b="1">
                <a:solidFill>
                  <a:srgbClr val="13796C"/>
                </a:solidFill>
              </a:defRPr>
            </a:lvl2pPr>
            <a:lvl3pPr>
              <a:defRPr sz="1875" b="1">
                <a:solidFill>
                  <a:srgbClr val="13796C"/>
                </a:solidFill>
              </a:defRPr>
            </a:lvl3pPr>
            <a:lvl4pPr>
              <a:defRPr sz="1875" b="1">
                <a:solidFill>
                  <a:srgbClr val="13796C"/>
                </a:solidFill>
              </a:defRPr>
            </a:lvl4pPr>
            <a:lvl5pPr>
              <a:defRPr sz="1875" b="1">
                <a:solidFill>
                  <a:srgbClr val="13796C"/>
                </a:solidFill>
              </a:defRPr>
            </a:lvl5pPr>
            <a:lvl6pPr>
              <a:defRPr sz="1875" b="1">
                <a:solidFill>
                  <a:srgbClr val="13796C"/>
                </a:solidFill>
              </a:defRPr>
            </a:lvl6pPr>
            <a:lvl7pPr>
              <a:defRPr sz="1875" b="1">
                <a:solidFill>
                  <a:srgbClr val="13796C"/>
                </a:solidFill>
              </a:defRPr>
            </a:lvl7pPr>
            <a:lvl8pPr>
              <a:defRPr sz="1875" b="1">
                <a:solidFill>
                  <a:srgbClr val="13796C"/>
                </a:solidFill>
              </a:defRPr>
            </a:lvl8pPr>
            <a:lvl9pPr>
              <a:defRPr sz="1875" b="1">
                <a:solidFill>
                  <a:srgbClr val="13796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796C"/>
                </a:solidFill>
              </a:defRPr>
            </a:pPr>
            <a:r>
              <a:rPr sz="1875" b="1">
                <a:solidFill>
                  <a:srgbClr val="13796C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A2E26-EAA6-49F0-A319-CFC4A75A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3F"/>
                </a:solidFill>
              </a:defRPr>
            </a:defPPr>
            <a:lvl1pPr>
              <a:defRPr sz="2100" b="0">
                <a:solidFill>
                  <a:srgbClr val="20383F"/>
                </a:solidFill>
              </a:defRPr>
            </a:lvl1pPr>
            <a:lvl2pPr>
              <a:defRPr sz="2100" b="0">
                <a:solidFill>
                  <a:srgbClr val="20383F"/>
                </a:solidFill>
              </a:defRPr>
            </a:lvl2pPr>
            <a:lvl3pPr>
              <a:defRPr sz="2100" b="0">
                <a:solidFill>
                  <a:srgbClr val="20383F"/>
                </a:solidFill>
              </a:defRPr>
            </a:lvl3pPr>
            <a:lvl4pPr>
              <a:defRPr sz="2100" b="0">
                <a:solidFill>
                  <a:srgbClr val="20383F"/>
                </a:solidFill>
              </a:defRPr>
            </a:lvl4pPr>
            <a:lvl5pPr>
              <a:defRPr sz="2100" b="0">
                <a:solidFill>
                  <a:srgbClr val="20383F"/>
                </a:solidFill>
              </a:defRPr>
            </a:lvl5pPr>
            <a:lvl6pPr>
              <a:defRPr sz="2100" b="0">
                <a:solidFill>
                  <a:srgbClr val="20383F"/>
                </a:solidFill>
              </a:defRPr>
            </a:lvl6pPr>
            <a:lvl7pPr>
              <a:defRPr sz="2100" b="0">
                <a:solidFill>
                  <a:srgbClr val="20383F"/>
                </a:solidFill>
              </a:defRPr>
            </a:lvl7pPr>
            <a:lvl8pPr>
              <a:defRPr sz="2100" b="0">
                <a:solidFill>
                  <a:srgbClr val="20383F"/>
                </a:solidFill>
              </a:defRPr>
            </a:lvl8pPr>
            <a:lvl9pPr>
              <a:defRPr sz="2100" b="0">
                <a:solidFill>
                  <a:srgbClr val="20383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3F"/>
                </a:solidFill>
              </a:defRPr>
            </a:pPr>
            <a:r>
              <a:rPr sz="2100" b="0">
                <a:solidFill>
                  <a:srgbClr val="20383F"/>
                </a:solidFill>
              </a:rPr>
              <a:t>Complete team details, publish the repository and record the required 20-minute minimum video.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39E7A-4BFE-4287-A6E4-3DFEC58E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796C"/>
                </a:solidFill>
              </a:defRPr>
            </a:defPPr>
            <a:lvl1pPr>
              <a:defRPr sz="1875" b="1">
                <a:solidFill>
                  <a:srgbClr val="13796C"/>
                </a:solidFill>
              </a:defRPr>
            </a:lvl1pPr>
            <a:lvl2pPr>
              <a:defRPr sz="1875" b="1">
                <a:solidFill>
                  <a:srgbClr val="13796C"/>
                </a:solidFill>
              </a:defRPr>
            </a:lvl2pPr>
            <a:lvl3pPr>
              <a:defRPr sz="1875" b="1">
                <a:solidFill>
                  <a:srgbClr val="13796C"/>
                </a:solidFill>
              </a:defRPr>
            </a:lvl3pPr>
            <a:lvl4pPr>
              <a:defRPr sz="1875" b="1">
                <a:solidFill>
                  <a:srgbClr val="13796C"/>
                </a:solidFill>
              </a:defRPr>
            </a:lvl4pPr>
            <a:lvl5pPr>
              <a:defRPr sz="1875" b="1">
                <a:solidFill>
                  <a:srgbClr val="13796C"/>
                </a:solidFill>
              </a:defRPr>
            </a:lvl5pPr>
            <a:lvl6pPr>
              <a:defRPr sz="1875" b="1">
                <a:solidFill>
                  <a:srgbClr val="13796C"/>
                </a:solidFill>
              </a:defRPr>
            </a:lvl6pPr>
            <a:lvl7pPr>
              <a:defRPr sz="1875" b="1">
                <a:solidFill>
                  <a:srgbClr val="13796C"/>
                </a:solidFill>
              </a:defRPr>
            </a:lvl7pPr>
            <a:lvl8pPr>
              <a:defRPr sz="1875" b="1">
                <a:solidFill>
                  <a:srgbClr val="13796C"/>
                </a:solidFill>
              </a:defRPr>
            </a:lvl8pPr>
            <a:lvl9pPr>
              <a:defRPr sz="1875" b="1">
                <a:solidFill>
                  <a:srgbClr val="13796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796C"/>
                </a:solidFill>
              </a:defRPr>
            </a:pPr>
            <a:r>
              <a:rPr sz="1875" b="1">
                <a:solidFill>
                  <a:srgbClr val="13796C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86F36-AE1C-4495-8791-FB5C91F9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3F"/>
                </a:solidFill>
              </a:defRPr>
            </a:defPPr>
            <a:lvl1pPr>
              <a:defRPr sz="2100" b="0">
                <a:solidFill>
                  <a:srgbClr val="20383F"/>
                </a:solidFill>
              </a:defRPr>
            </a:lvl1pPr>
            <a:lvl2pPr>
              <a:defRPr sz="2100" b="0">
                <a:solidFill>
                  <a:srgbClr val="20383F"/>
                </a:solidFill>
              </a:defRPr>
            </a:lvl2pPr>
            <a:lvl3pPr>
              <a:defRPr sz="2100" b="0">
                <a:solidFill>
                  <a:srgbClr val="20383F"/>
                </a:solidFill>
              </a:defRPr>
            </a:lvl3pPr>
            <a:lvl4pPr>
              <a:defRPr sz="2100" b="0">
                <a:solidFill>
                  <a:srgbClr val="20383F"/>
                </a:solidFill>
              </a:defRPr>
            </a:lvl4pPr>
            <a:lvl5pPr>
              <a:defRPr sz="2100" b="0">
                <a:solidFill>
                  <a:srgbClr val="20383F"/>
                </a:solidFill>
              </a:defRPr>
            </a:lvl5pPr>
            <a:lvl6pPr>
              <a:defRPr sz="2100" b="0">
                <a:solidFill>
                  <a:srgbClr val="20383F"/>
                </a:solidFill>
              </a:defRPr>
            </a:lvl6pPr>
            <a:lvl7pPr>
              <a:defRPr sz="2100" b="0">
                <a:solidFill>
                  <a:srgbClr val="20383F"/>
                </a:solidFill>
              </a:defRPr>
            </a:lvl7pPr>
            <a:lvl8pPr>
              <a:defRPr sz="2100" b="0">
                <a:solidFill>
                  <a:srgbClr val="20383F"/>
                </a:solidFill>
              </a:defRPr>
            </a:lvl8pPr>
            <a:lvl9pPr>
              <a:defRPr sz="2100" b="0">
                <a:solidFill>
                  <a:srgbClr val="20383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3F"/>
                </a:solidFill>
              </a:defRPr>
            </a:pPr>
            <a:r>
              <a:rPr sz="2100" b="0">
                <a:solidFill>
                  <a:srgbClr val="20383F"/>
                </a:solidFill>
              </a:rPr>
              <a:t>Validate on authorized real CGM data with a prespecified subject holdout.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2030A-B0ED-4078-B4FB-72E80FCA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796C"/>
                </a:solidFill>
              </a:defRPr>
            </a:defPPr>
            <a:lvl1pPr>
              <a:defRPr sz="1875" b="1">
                <a:solidFill>
                  <a:srgbClr val="13796C"/>
                </a:solidFill>
              </a:defRPr>
            </a:lvl1pPr>
            <a:lvl2pPr>
              <a:defRPr sz="1875" b="1">
                <a:solidFill>
                  <a:srgbClr val="13796C"/>
                </a:solidFill>
              </a:defRPr>
            </a:lvl2pPr>
            <a:lvl3pPr>
              <a:defRPr sz="1875" b="1">
                <a:solidFill>
                  <a:srgbClr val="13796C"/>
                </a:solidFill>
              </a:defRPr>
            </a:lvl3pPr>
            <a:lvl4pPr>
              <a:defRPr sz="1875" b="1">
                <a:solidFill>
                  <a:srgbClr val="13796C"/>
                </a:solidFill>
              </a:defRPr>
            </a:lvl4pPr>
            <a:lvl5pPr>
              <a:defRPr sz="1875" b="1">
                <a:solidFill>
                  <a:srgbClr val="13796C"/>
                </a:solidFill>
              </a:defRPr>
            </a:lvl5pPr>
            <a:lvl6pPr>
              <a:defRPr sz="1875" b="1">
                <a:solidFill>
                  <a:srgbClr val="13796C"/>
                </a:solidFill>
              </a:defRPr>
            </a:lvl6pPr>
            <a:lvl7pPr>
              <a:defRPr sz="1875" b="1">
                <a:solidFill>
                  <a:srgbClr val="13796C"/>
                </a:solidFill>
              </a:defRPr>
            </a:lvl7pPr>
            <a:lvl8pPr>
              <a:defRPr sz="1875" b="1">
                <a:solidFill>
                  <a:srgbClr val="13796C"/>
                </a:solidFill>
              </a:defRPr>
            </a:lvl8pPr>
            <a:lvl9pPr>
              <a:defRPr sz="1875" b="1">
                <a:solidFill>
                  <a:srgbClr val="13796C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796C"/>
                </a:solidFill>
              </a:defRPr>
            </a:pPr>
            <a:r>
              <a:rPr sz="1875" b="1">
                <a:solidFill>
                  <a:srgbClr val="13796C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06F8B-82C0-42BD-B6DC-E084EC7D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83F"/>
                </a:solidFill>
              </a:defRPr>
            </a:defPPr>
            <a:lvl1pPr>
              <a:defRPr sz="2100" b="0">
                <a:solidFill>
                  <a:srgbClr val="20383F"/>
                </a:solidFill>
              </a:defRPr>
            </a:lvl1pPr>
            <a:lvl2pPr>
              <a:defRPr sz="2100" b="0">
                <a:solidFill>
                  <a:srgbClr val="20383F"/>
                </a:solidFill>
              </a:defRPr>
            </a:lvl2pPr>
            <a:lvl3pPr>
              <a:defRPr sz="2100" b="0">
                <a:solidFill>
                  <a:srgbClr val="20383F"/>
                </a:solidFill>
              </a:defRPr>
            </a:lvl3pPr>
            <a:lvl4pPr>
              <a:defRPr sz="2100" b="0">
                <a:solidFill>
                  <a:srgbClr val="20383F"/>
                </a:solidFill>
              </a:defRPr>
            </a:lvl4pPr>
            <a:lvl5pPr>
              <a:defRPr sz="2100" b="0">
                <a:solidFill>
                  <a:srgbClr val="20383F"/>
                </a:solidFill>
              </a:defRPr>
            </a:lvl5pPr>
            <a:lvl6pPr>
              <a:defRPr sz="2100" b="0">
                <a:solidFill>
                  <a:srgbClr val="20383F"/>
                </a:solidFill>
              </a:defRPr>
            </a:lvl6pPr>
            <a:lvl7pPr>
              <a:defRPr sz="2100" b="0">
                <a:solidFill>
                  <a:srgbClr val="20383F"/>
                </a:solidFill>
              </a:defRPr>
            </a:lvl7pPr>
            <a:lvl8pPr>
              <a:defRPr sz="2100" b="0">
                <a:solidFill>
                  <a:srgbClr val="20383F"/>
                </a:solidFill>
              </a:defRPr>
            </a:lvl8pPr>
            <a:lvl9pPr>
              <a:defRPr sz="2100" b="0">
                <a:solidFill>
                  <a:srgbClr val="20383F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383F"/>
                </a:solidFill>
              </a:defRPr>
            </a:pPr>
            <a:r>
              <a:rPr sz="2100" b="0">
                <a:solidFill>
                  <a:srgbClr val="20383F"/>
                </a:solidFill>
              </a:rPr>
              <a:t>Integrate full FHIR validation, identified physiology and independent security review before clinical translation.</a:t>
            </a:r>
          </a:p>
        </p:txBody>
      </p:sp>
    </p:spTree>
    <p:extLst>
      <p:ext uri="{BB962C8B-B14F-4D97-AF65-F5344CB8AC3E}">
        <p14:creationId xmlns:p14="http://schemas.microsoft.com/office/powerpoint/2010/main" val="10159585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2026-10-19T21:07:10.1200000Z</dcterms:created>
  <dcterms:modified xsi:type="dcterms:W3CDTF">2026-10-19T21:07:10.1200000Z</dcterms:modified>
</coreProperties>
</file>